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저희는 '알비'를 만든 김태겸, 곽지한입니다. 알비는 '알코올 비서'의 줄임말인데요, 술 마신 걸 그냥 한 줄로 말하듯 적으면 AI가 알아서 정리해 주는 기록 앱입니다. Flutter로 만들었고요, 지금부터 어떤 문제를 어떻게 풀었는지 보여드리겠습니다.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음주 기록 앱들 한 번씩 써보셨을 텐데, 보통 작심삼일로 끝납니다. 마실 때마다 술 종류 고르고, 양, 도수, 안주, 장소까지 일일이 입력해야 하거든요. 기록이 끊기면 데이터가 의미가 없어집니다. 정작 궁금한 건 '내가 요즘 얼마나 마셨지?' 하나인데, 그걸 보려면 매번 귀찮은 입력을 견뎌야 하는 모순이 있었습니다. 저희는 이 '입력 마찰'을 없애는 데 집중했습니다.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알비의 핵심은 이겁니다. '어제 강남에서 소주 2병에 삼겹살' — 이렇게 말하듯 한 줄만 쓰면 됩니다. 그러면 앱이 소주, 2병, 도수, 안주는 삼겹살, 장소는 강남, 날짜는 어제로 쪼개서 카드로 보여줘요. 흐름은 네 단계입니다. 자연어 입력, AI 파싱, 검토·수정, 저장. 입력의 번거로움은 없애되 정확성은 검토 단계로 잡는 구조입니다.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저희가 신경 쓴 세 가지입니다. 첫째, 자연어 AI 파싱 — 폼이 아니라 말로 입력해요. 둘째, 중요한데 AI가 없어도 동작합니다. 인터넷이 끊겼거나, API 키가 없거나, AI 호출이 실패해도 규칙 기반 파서가 곧바로 받아줍니다. 그래서 앱이 절대 먹통이 되지 않아요. 셋째, 저장 전에 반드시 검토 화면을 거칩니다. AI가 틀릴 수 있으니까요. AI를 쓰되 맹신하지 않는, 자동 저장을 일부러 막아둔 안전 설계입니다.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구조는 MVVM 패턴입니다. 화면(View)은 보여주기만 하고, 상태와 로직은 ViewModel이, DB 접근은 Repository가 담당합니다. 화살표가 한 방향이죠. 화면이 DB를 직접 건드리는 일이 없도록 강제했습니다. 상태관리는 Riverpod을 썼고요. 역할을 분리하니 한 부분을 고쳐도 다른 데가 안 깨지고, 두 명이 나눠 작업하기도 훨씬 수월했습니다.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원칙은 'AI를 쓰되 AI에 의존하지 않는다'입니다. 입력이 들어오면 AI를 쓸 수 있는지 확인하고, 가능하면 Gemini를 호출합니다. 실패하면 그 순간 규칙 기반 파서로 자동 전환됩니다. 호출이 너무 오래 걸리면 취소할 수 있고, 사용량 할당량도 관리합니다. AI를 실제로 시도했는지 투명하게 알려줘서 결과를 믿을지 판단하게 했습니다. 이 파싱 로직은 화면이나 ViewModel이 아니라 별도 모듈로 완전히 분리해 뒀습니다.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데이터는 로컬 우선으로 SQLite를 썼습니다. 테이블이 8개인데, 기록 하나를 저장할 때 술, 안주, 파싱 로그가 한꺼번에 들어가야 해서 트랜잭션으로 묶어 원자성을 보장했습니다. 술 데이터가 미리 553종 들어 있습니다. 위스키, 와인, 맥주부터 소주, 막걸리까지 한국 시장 브랜드를 직접 큐레이션해서 넣었어요. 음식 사전도 36종 있고요. 또 기록을 수정할 때 항목 ID를 보존해서, 연결된 테이스팅 노트 같은 데이터가 유실되지 않게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화면입니다. 홈에서 한 줄 입력하고, 검토 화면에서 파싱 결과를 확인·수정합니다. 기록 목록은 월별로 묶이고, 캘린더로도 음주일을 한눈에 봅니다. 아카이브는 어떤 술을 얼마나 마셨나를 술 종류별로 모아주고, 통계 화면은 카테고리 비중을 차트로 보여줍니다. 기록하는 즐거움부터 돌아보는 재미까지 한 흐름으로 이어지게 설계했습니다. (※ 실제 스크린샷으로 교체)</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알비는 기록을 넘어 행동까지 돕습니다. 마신 술을 한국 기준 표준잔으로 환산하는데, 1 표준잔이 순알코올 8그램이에요. 이걸로 과음 신호를 잡습니다. 통계는 차트로 보여주고요. 로컬 알림이 네 가지 있습니다. 매주 일요일 주간 요약, 3일 동안 기록이 없으면 리마인드, 새벽에 마신 다음 날 낮에 입력 알림, 한 주에 너무 많이 마셨으면 건강 경고. 기록을 하게 만들고, 더 나아가 습관을 돌아보게 만드는 장치들입니다.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가장 신경 쓴 원칙은 failure-path first, 정상 동작보다 비정상 상황을 먼저 설계하는 것이었습니다. 첫째, 에러를 sealed class로 한 곳에 모아서 새 에러가 생기면 처리 누락이 컴파일 단계에서 잡히게 했습니다. 둘째, 개인정보 보호인데 기록을 삭제하면 AI에 보냈던 원문 데이터까지 같은 트랜잭션에서 정리됩니다. 셋째, 클라우드 백업은 선택 기능이라 키가 없으면 자동으로 꺼지고 앱 본체는 멀쩡히 동작합니다. 어떤 상황에서도 사용자 데이터가 안전한 쪽으로 설계했습니다.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프로젝트엔 수업에서 배운 개념이 거의 다 들어가 있습니다. 상태관리는 Riverpod으로, 로컬 DB는 sqflite로 구현하면서 같은 기능을 Drift라는 ORM으로도 따로 만들어 두 방식을 비교하는 격리 데모 모듈을 넣었습니다. 외부 REST API는 Gemini 호출에 재시도까지 붙여 다뤘고, 권한과 로컬 알림, 클라우드 연동까지 — 강의 주제를 실제 제품 안에서 직접 적용해 본 게 가장 큰 수확이었습니다.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역할 분담입니다. 김태겸 학생이 자연어 파싱과 데이터베이스, AI 연동을 맡았고, 저 곽지한은 UI와 디자인, 사용자 경험을 담당했습니다. 저희가 배운 건 편리함과 정확함은 검토 단계 하나로 양립할 수 있다는 점이었어요. 앞으로는 클라우드 동기화를 본격화하고 디자인도 더 다듬을 계획입니다. 이상, 한 줄이면 끝나는 음주 기록 앱 알비 발표를 마치겠습니다.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110D"/>
        </a:solidFill>
        <a:effectLst/>
      </p:bgPr>
    </p:bg>
    <p:spTree>
      <p:nvGrpSpPr>
        <p:cNvPr id="1" name=""/>
        <p:cNvGrpSpPr/>
        <p:nvPr/>
      </p:nvGrpSpPr>
      <p:grpSpPr/>
      <p:sp>
        <p:nvSpPr>
          <p:cNvPr id="2" name="Rectangle 1"/>
          <p:cNvSpPr/>
          <p:nvPr/>
        </p:nvSpPr>
        <p:spPr>
          <a:xfrm>
            <a:off x="0" y="0"/>
            <a:ext cx="12191695" cy="320040"/>
          </a:xfrm>
          <a:prstGeom prst="rect">
            <a:avLst/>
          </a:prstGeom>
          <a:solidFill>
            <a:srgbClr val="B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37960"/>
            <a:ext cx="12191695" cy="320040"/>
          </a:xfrm>
          <a:prstGeom prst="rect">
            <a:avLst/>
          </a:prstGeom>
          <a:solidFill>
            <a:srgbClr val="B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148840"/>
            <a:ext cx="10332720" cy="1188720"/>
          </a:xfrm>
          <a:prstGeom prst="rect">
            <a:avLst/>
          </a:prstGeom>
          <a:noFill/>
        </p:spPr>
        <p:txBody>
          <a:bodyPr wrap="square" anchor="t">
            <a:spAutoFit/>
          </a:bodyPr>
          <a:lstStyle/>
          <a:p>
            <a:pPr algn="ctr">
              <a:lnSpc>
                <a:spcPct val="100000"/>
              </a:lnSpc>
            </a:pPr>
            <a:r>
              <a:rPr sz="6400" b="1" i="0">
                <a:solidFill>
                  <a:srgbClr val="E0A857"/>
                </a:solidFill>
                <a:latin typeface="맑은 고딕"/>
              </a:rPr>
              <a:t>알비 (Albi)</a:t>
            </a:r>
          </a:p>
        </p:txBody>
      </p:sp>
      <p:sp>
        <p:nvSpPr>
          <p:cNvPr id="5" name="TextBox 4"/>
          <p:cNvSpPr txBox="1"/>
          <p:nvPr/>
        </p:nvSpPr>
        <p:spPr>
          <a:xfrm>
            <a:off x="914400" y="3429000"/>
            <a:ext cx="10332720" cy="731520"/>
          </a:xfrm>
          <a:prstGeom prst="rect">
            <a:avLst/>
          </a:prstGeom>
          <a:noFill/>
        </p:spPr>
        <p:txBody>
          <a:bodyPr wrap="square" anchor="t">
            <a:spAutoFit/>
          </a:bodyPr>
          <a:lstStyle/>
          <a:p>
            <a:pPr algn="ctr">
              <a:lnSpc>
                <a:spcPct val="100000"/>
              </a:lnSpc>
            </a:pPr>
            <a:r>
              <a:rPr sz="2400" b="0" i="0">
                <a:solidFill>
                  <a:srgbClr val="FBF6EE"/>
                </a:solidFill>
                <a:latin typeface="맑은 고딕"/>
              </a:rPr>
              <a:t>자연어로 한 줄 쓰면 끝나는 AI 음주 기록 비서</a:t>
            </a:r>
          </a:p>
        </p:txBody>
      </p:sp>
      <p:sp>
        <p:nvSpPr>
          <p:cNvPr id="6" name="TextBox 5"/>
          <p:cNvSpPr txBox="1"/>
          <p:nvPr/>
        </p:nvSpPr>
        <p:spPr>
          <a:xfrm>
            <a:off x="914400" y="5120640"/>
            <a:ext cx="10332720" cy="457200"/>
          </a:xfrm>
          <a:prstGeom prst="rect">
            <a:avLst/>
          </a:prstGeom>
          <a:noFill/>
        </p:spPr>
        <p:txBody>
          <a:bodyPr wrap="square" anchor="t">
            <a:spAutoFit/>
          </a:bodyPr>
          <a:lstStyle/>
          <a:p>
            <a:pPr algn="ctr">
              <a:lnSpc>
                <a:spcPct val="100000"/>
              </a:lnSpc>
            </a:pPr>
            <a:r>
              <a:rPr sz="1500" b="0" i="0">
                <a:solidFill>
                  <a:srgbClr val="E0A857"/>
                </a:solidFill>
                <a:latin typeface="맑은 고딕"/>
              </a:rPr>
              <a:t>모바일 앱 프로그래밍    |    팀  김태겸 · 곽지한    |    Flutter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6EE"/>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B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515600" cy="822960"/>
          </a:xfrm>
          <a:prstGeom prst="rect">
            <a:avLst/>
          </a:prstGeom>
          <a:noFill/>
        </p:spPr>
        <p:txBody>
          <a:bodyPr wrap="square" anchor="t">
            <a:spAutoFit/>
          </a:bodyPr>
          <a:lstStyle/>
          <a:p>
            <a:pPr algn="l">
              <a:lnSpc>
                <a:spcPct val="100000"/>
              </a:lnSpc>
            </a:pPr>
            <a:r>
              <a:rPr sz="3300" b="1" i="0">
                <a:solidFill>
                  <a:srgbClr val="B8731A"/>
                </a:solidFill>
                <a:latin typeface="맑은 고딕"/>
              </a:rPr>
              <a:t>왜 만들었나</a:t>
            </a:r>
          </a:p>
        </p:txBody>
      </p:sp>
      <p:sp>
        <p:nvSpPr>
          <p:cNvPr id="4" name="TextBox 3"/>
          <p:cNvSpPr txBox="1"/>
          <p:nvPr/>
        </p:nvSpPr>
        <p:spPr>
          <a:xfrm>
            <a:off x="804672" y="1325880"/>
            <a:ext cx="10789920" cy="548640"/>
          </a:xfrm>
          <a:prstGeom prst="rect">
            <a:avLst/>
          </a:prstGeom>
          <a:noFill/>
        </p:spPr>
        <p:txBody>
          <a:bodyPr wrap="square" anchor="t">
            <a:spAutoFit/>
          </a:bodyPr>
          <a:lstStyle/>
          <a:p>
            <a:pPr algn="l">
              <a:lnSpc>
                <a:spcPct val="100000"/>
              </a:lnSpc>
            </a:pPr>
            <a:r>
              <a:rPr sz="1800" b="0" i="1">
                <a:solidFill>
                  <a:srgbClr val="7A6A57"/>
                </a:solidFill>
                <a:latin typeface="맑은 고딕"/>
              </a:rPr>
              <a:t>음주 기록은 귀찮아서 작심삼일이 된다</a:t>
            </a:r>
          </a:p>
        </p:txBody>
      </p:sp>
      <p:sp>
        <p:nvSpPr>
          <p:cNvPr id="5" name="Rectangle 4"/>
          <p:cNvSpPr/>
          <p:nvPr/>
        </p:nvSpPr>
        <p:spPr>
          <a:xfrm>
            <a:off x="822960" y="1847088"/>
            <a:ext cx="3840480" cy="27432"/>
          </a:xfrm>
          <a:prstGeom prst="rect">
            <a:avLst/>
          </a:prstGeom>
          <a:solidFill>
            <a:srgbClr val="E0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6400800"/>
            <a:ext cx="6400800" cy="320040"/>
          </a:xfrm>
          <a:prstGeom prst="rect">
            <a:avLst/>
          </a:prstGeom>
          <a:noFill/>
        </p:spPr>
        <p:txBody>
          <a:bodyPr wrap="square" anchor="t">
            <a:spAutoFit/>
          </a:bodyPr>
          <a:lstStyle/>
          <a:p>
            <a:pPr algn="l">
              <a:lnSpc>
                <a:spcPct val="100000"/>
              </a:lnSpc>
            </a:pPr>
            <a:r>
              <a:rPr sz="1000" b="0" i="0">
                <a:solidFill>
                  <a:srgbClr val="7A6A57"/>
                </a:solidFill>
                <a:latin typeface="맑은 고딕"/>
              </a:rPr>
              <a:t>알비(Albi) · 모바일 앱 프로그래밍</a:t>
            </a:r>
          </a:p>
        </p:txBody>
      </p:sp>
      <p:sp>
        <p:nvSpPr>
          <p:cNvPr id="7" name="TextBox 6"/>
          <p:cNvSpPr txBox="1"/>
          <p:nvPr/>
        </p:nvSpPr>
        <p:spPr>
          <a:xfrm>
            <a:off x="11094415" y="6400800"/>
            <a:ext cx="548640" cy="320040"/>
          </a:xfrm>
          <a:prstGeom prst="rect">
            <a:avLst/>
          </a:prstGeom>
          <a:noFill/>
        </p:spPr>
        <p:txBody>
          <a:bodyPr wrap="square" anchor="t">
            <a:spAutoFit/>
          </a:bodyPr>
          <a:lstStyle/>
          <a:p>
            <a:pPr algn="r">
              <a:lnSpc>
                <a:spcPct val="100000"/>
              </a:lnSpc>
            </a:pPr>
            <a:r>
              <a:rPr sz="1100" b="1" i="0">
                <a:solidFill>
                  <a:srgbClr val="B8731A"/>
                </a:solidFill>
                <a:latin typeface="맑은 고딕"/>
              </a:rPr>
              <a:t>2</a:t>
            </a:r>
          </a:p>
        </p:txBody>
      </p:sp>
      <p:sp>
        <p:nvSpPr>
          <p:cNvPr id="8" name="TextBox 7"/>
          <p:cNvSpPr txBox="1"/>
          <p:nvPr/>
        </p:nvSpPr>
        <p:spPr>
          <a:xfrm>
            <a:off x="914400" y="2377440"/>
            <a:ext cx="10332720" cy="3200400"/>
          </a:xfrm>
          <a:prstGeom prst="rect">
            <a:avLst/>
          </a:prstGeom>
          <a:noFill/>
        </p:spPr>
        <p:txBody>
          <a:bodyPr wrap="square">
            <a:spAutoFit/>
          </a:bodyPr>
          <a:lstStyle/>
          <a:p>
            <a:pPr>
              <a:lnSpc>
                <a:spcPct val="105000"/>
              </a:lnSpc>
              <a:spcAft>
                <a:spcPts val="1800"/>
              </a:spcAft>
            </a:pPr>
            <a:r>
              <a:rPr sz="2100" b="1">
                <a:solidFill>
                  <a:srgbClr val="B8731A"/>
                </a:solidFill>
                <a:latin typeface="맑은 고딕"/>
              </a:rPr>
              <a:t>●  </a:t>
            </a:r>
            <a:r>
              <a:rPr sz="2100">
                <a:solidFill>
                  <a:srgbClr val="2A2118"/>
                </a:solidFill>
                <a:latin typeface="맑은 고딕"/>
              </a:rPr>
              <a:t>술 종류·양·도수·안주·장소를 매번 항목별로 입력 — 번거로움</a:t>
            </a:r>
          </a:p>
          <a:p>
            <a:pPr>
              <a:lnSpc>
                <a:spcPct val="105000"/>
              </a:lnSpc>
              <a:spcAft>
                <a:spcPts val="1800"/>
              </a:spcAft>
            </a:pPr>
            <a:r>
              <a:rPr sz="2100" b="1">
                <a:solidFill>
                  <a:srgbClr val="B8731A"/>
                </a:solidFill>
                <a:latin typeface="맑은 고딕"/>
              </a:rPr>
              <a:t>●  </a:t>
            </a:r>
            <a:r>
              <a:rPr sz="2100">
                <a:solidFill>
                  <a:srgbClr val="2A2118"/>
                </a:solidFill>
                <a:latin typeface="맑은 고딕"/>
              </a:rPr>
              <a:t>기록이 한 번 끊기면 그동안 쌓인 데이터가 무의미해짐</a:t>
            </a:r>
          </a:p>
          <a:p>
            <a:pPr>
              <a:lnSpc>
                <a:spcPct val="105000"/>
              </a:lnSpc>
              <a:spcAft>
                <a:spcPts val="1800"/>
              </a:spcAft>
            </a:pPr>
            <a:r>
              <a:rPr sz="2100" b="1">
                <a:solidFill>
                  <a:srgbClr val="B8731A"/>
                </a:solidFill>
                <a:latin typeface="맑은 고딕"/>
              </a:rPr>
              <a:t>●  </a:t>
            </a:r>
            <a:r>
              <a:rPr sz="2100">
                <a:solidFill>
                  <a:srgbClr val="2A2118"/>
                </a:solidFill>
                <a:latin typeface="맑은 고딕"/>
              </a:rPr>
              <a:t>정작 사용자가 궁금한 건 '내가 요즘 얼마나 마셨나' 하나뿐</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6EE"/>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B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515600" cy="822960"/>
          </a:xfrm>
          <a:prstGeom prst="rect">
            <a:avLst/>
          </a:prstGeom>
          <a:noFill/>
        </p:spPr>
        <p:txBody>
          <a:bodyPr wrap="square" anchor="t">
            <a:spAutoFit/>
          </a:bodyPr>
          <a:lstStyle/>
          <a:p>
            <a:pPr algn="l">
              <a:lnSpc>
                <a:spcPct val="100000"/>
              </a:lnSpc>
            </a:pPr>
            <a:r>
              <a:rPr sz="3300" b="1" i="0">
                <a:solidFill>
                  <a:srgbClr val="B8731A"/>
                </a:solidFill>
                <a:latin typeface="맑은 고딕"/>
              </a:rPr>
              <a:t>해결: 한 줄이면 끝</a:t>
            </a:r>
          </a:p>
        </p:txBody>
      </p:sp>
      <p:sp>
        <p:nvSpPr>
          <p:cNvPr id="4" name="TextBox 3"/>
          <p:cNvSpPr txBox="1"/>
          <p:nvPr/>
        </p:nvSpPr>
        <p:spPr>
          <a:xfrm>
            <a:off x="804672" y="1325880"/>
            <a:ext cx="10789920" cy="548640"/>
          </a:xfrm>
          <a:prstGeom prst="rect">
            <a:avLst/>
          </a:prstGeom>
          <a:noFill/>
        </p:spPr>
        <p:txBody>
          <a:bodyPr wrap="square" anchor="t">
            <a:spAutoFit/>
          </a:bodyPr>
          <a:lstStyle/>
          <a:p>
            <a:pPr algn="l">
              <a:lnSpc>
                <a:spcPct val="100000"/>
              </a:lnSpc>
            </a:pPr>
            <a:r>
              <a:rPr sz="1800" b="0" i="1">
                <a:solidFill>
                  <a:srgbClr val="7A6A57"/>
                </a:solidFill>
                <a:latin typeface="맑은 고딕"/>
              </a:rPr>
              <a:t>"어제 강남에서 소주 2병에 삼겹살"  →  자동으로 구조화</a:t>
            </a:r>
          </a:p>
        </p:txBody>
      </p:sp>
      <p:sp>
        <p:nvSpPr>
          <p:cNvPr id="5" name="Rectangle 4"/>
          <p:cNvSpPr/>
          <p:nvPr/>
        </p:nvSpPr>
        <p:spPr>
          <a:xfrm>
            <a:off x="822960" y="1847088"/>
            <a:ext cx="3840480" cy="27432"/>
          </a:xfrm>
          <a:prstGeom prst="rect">
            <a:avLst/>
          </a:prstGeom>
          <a:solidFill>
            <a:srgbClr val="E0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6400800"/>
            <a:ext cx="6400800" cy="320040"/>
          </a:xfrm>
          <a:prstGeom prst="rect">
            <a:avLst/>
          </a:prstGeom>
          <a:noFill/>
        </p:spPr>
        <p:txBody>
          <a:bodyPr wrap="square" anchor="t">
            <a:spAutoFit/>
          </a:bodyPr>
          <a:lstStyle/>
          <a:p>
            <a:pPr algn="l">
              <a:lnSpc>
                <a:spcPct val="100000"/>
              </a:lnSpc>
            </a:pPr>
            <a:r>
              <a:rPr sz="1000" b="0" i="0">
                <a:solidFill>
                  <a:srgbClr val="7A6A57"/>
                </a:solidFill>
                <a:latin typeface="맑은 고딕"/>
              </a:rPr>
              <a:t>알비(Albi) · 모바일 앱 프로그래밍</a:t>
            </a:r>
          </a:p>
        </p:txBody>
      </p:sp>
      <p:sp>
        <p:nvSpPr>
          <p:cNvPr id="7" name="TextBox 6"/>
          <p:cNvSpPr txBox="1"/>
          <p:nvPr/>
        </p:nvSpPr>
        <p:spPr>
          <a:xfrm>
            <a:off x="11094415" y="6400800"/>
            <a:ext cx="548640" cy="320040"/>
          </a:xfrm>
          <a:prstGeom prst="rect">
            <a:avLst/>
          </a:prstGeom>
          <a:noFill/>
        </p:spPr>
        <p:txBody>
          <a:bodyPr wrap="square" anchor="t">
            <a:spAutoFit/>
          </a:bodyPr>
          <a:lstStyle/>
          <a:p>
            <a:pPr algn="r">
              <a:lnSpc>
                <a:spcPct val="100000"/>
              </a:lnSpc>
            </a:pPr>
            <a:r>
              <a:rPr sz="1100" b="1" i="0">
                <a:solidFill>
                  <a:srgbClr val="B8731A"/>
                </a:solidFill>
                <a:latin typeface="맑은 고딕"/>
              </a:rPr>
              <a:t>3</a:t>
            </a:r>
          </a:p>
        </p:txBody>
      </p:sp>
      <p:sp>
        <p:nvSpPr>
          <p:cNvPr id="8" name="Rounded Rectangle 7"/>
          <p:cNvSpPr/>
          <p:nvPr/>
        </p:nvSpPr>
        <p:spPr>
          <a:xfrm>
            <a:off x="960120" y="3108960"/>
            <a:ext cx="2377440" cy="1188720"/>
          </a:xfrm>
          <a:prstGeom prst="roundRect">
            <a:avLst/>
          </a:prstGeom>
          <a:solidFill>
            <a:srgbClr val="F3E9D8"/>
          </a:solidFill>
          <a:ln w="19050">
            <a:solidFill>
              <a:srgbClr val="B8731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2A2118"/>
                </a:solidFill>
                <a:latin typeface="맑은 고딕"/>
              </a:rPr>
              <a:t>자연어 입력</a:t>
            </a:r>
          </a:p>
        </p:txBody>
      </p:sp>
      <p:sp>
        <p:nvSpPr>
          <p:cNvPr id="9" name="TextBox 8"/>
          <p:cNvSpPr txBox="1"/>
          <p:nvPr/>
        </p:nvSpPr>
        <p:spPr>
          <a:xfrm>
            <a:off x="3355848" y="3429000"/>
            <a:ext cx="502920" cy="548640"/>
          </a:xfrm>
          <a:prstGeom prst="rect">
            <a:avLst/>
          </a:prstGeom>
          <a:noFill/>
        </p:spPr>
        <p:txBody>
          <a:bodyPr wrap="square" anchor="t">
            <a:spAutoFit/>
          </a:bodyPr>
          <a:lstStyle/>
          <a:p>
            <a:pPr algn="ctr">
              <a:lnSpc>
                <a:spcPct val="100000"/>
              </a:lnSpc>
            </a:pPr>
            <a:r>
              <a:rPr sz="2800" b="1" i="0">
                <a:solidFill>
                  <a:srgbClr val="B8731A"/>
                </a:solidFill>
                <a:latin typeface="맑은 고딕"/>
              </a:rPr>
              <a:t>→</a:t>
            </a:r>
          </a:p>
        </p:txBody>
      </p:sp>
      <p:sp>
        <p:nvSpPr>
          <p:cNvPr id="10" name="Rounded Rectangle 9"/>
          <p:cNvSpPr/>
          <p:nvPr/>
        </p:nvSpPr>
        <p:spPr>
          <a:xfrm>
            <a:off x="3840480" y="3108960"/>
            <a:ext cx="2377440" cy="1188720"/>
          </a:xfrm>
          <a:prstGeom prst="roundRect">
            <a:avLst/>
          </a:prstGeom>
          <a:solidFill>
            <a:srgbClr val="F3E9D8"/>
          </a:solidFill>
          <a:ln w="19050">
            <a:solidFill>
              <a:srgbClr val="B8731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2A2118"/>
                </a:solidFill>
                <a:latin typeface="맑은 고딕"/>
              </a:rPr>
              <a:t>AI 파싱</a:t>
            </a:r>
          </a:p>
        </p:txBody>
      </p:sp>
      <p:sp>
        <p:nvSpPr>
          <p:cNvPr id="11" name="TextBox 10"/>
          <p:cNvSpPr txBox="1"/>
          <p:nvPr/>
        </p:nvSpPr>
        <p:spPr>
          <a:xfrm>
            <a:off x="6236208" y="3429000"/>
            <a:ext cx="502920" cy="548640"/>
          </a:xfrm>
          <a:prstGeom prst="rect">
            <a:avLst/>
          </a:prstGeom>
          <a:noFill/>
        </p:spPr>
        <p:txBody>
          <a:bodyPr wrap="square" anchor="t">
            <a:spAutoFit/>
          </a:bodyPr>
          <a:lstStyle/>
          <a:p>
            <a:pPr algn="ctr">
              <a:lnSpc>
                <a:spcPct val="100000"/>
              </a:lnSpc>
            </a:pPr>
            <a:r>
              <a:rPr sz="2800" b="1" i="0">
                <a:solidFill>
                  <a:srgbClr val="B8731A"/>
                </a:solidFill>
                <a:latin typeface="맑은 고딕"/>
              </a:rPr>
              <a:t>→</a:t>
            </a:r>
          </a:p>
        </p:txBody>
      </p:sp>
      <p:sp>
        <p:nvSpPr>
          <p:cNvPr id="12" name="Rounded Rectangle 11"/>
          <p:cNvSpPr/>
          <p:nvPr/>
        </p:nvSpPr>
        <p:spPr>
          <a:xfrm>
            <a:off x="6720840" y="3108960"/>
            <a:ext cx="2377440" cy="1188720"/>
          </a:xfrm>
          <a:prstGeom prst="roundRect">
            <a:avLst/>
          </a:prstGeom>
          <a:solidFill>
            <a:srgbClr val="F3E9D8"/>
          </a:solidFill>
          <a:ln w="19050">
            <a:solidFill>
              <a:srgbClr val="B8731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2A2118"/>
                </a:solidFill>
                <a:latin typeface="맑은 고딕"/>
              </a:rPr>
              <a:t>검토 · 수정</a:t>
            </a:r>
          </a:p>
        </p:txBody>
      </p:sp>
      <p:sp>
        <p:nvSpPr>
          <p:cNvPr id="13" name="TextBox 12"/>
          <p:cNvSpPr txBox="1"/>
          <p:nvPr/>
        </p:nvSpPr>
        <p:spPr>
          <a:xfrm>
            <a:off x="9116568" y="3429000"/>
            <a:ext cx="502920" cy="548640"/>
          </a:xfrm>
          <a:prstGeom prst="rect">
            <a:avLst/>
          </a:prstGeom>
          <a:noFill/>
        </p:spPr>
        <p:txBody>
          <a:bodyPr wrap="square" anchor="t">
            <a:spAutoFit/>
          </a:bodyPr>
          <a:lstStyle/>
          <a:p>
            <a:pPr algn="ctr">
              <a:lnSpc>
                <a:spcPct val="100000"/>
              </a:lnSpc>
            </a:pPr>
            <a:r>
              <a:rPr sz="2800" b="1" i="0">
                <a:solidFill>
                  <a:srgbClr val="B8731A"/>
                </a:solidFill>
                <a:latin typeface="맑은 고딕"/>
              </a:rPr>
              <a:t>→</a:t>
            </a:r>
          </a:p>
        </p:txBody>
      </p:sp>
      <p:sp>
        <p:nvSpPr>
          <p:cNvPr id="14" name="Rounded Rectangle 13"/>
          <p:cNvSpPr/>
          <p:nvPr/>
        </p:nvSpPr>
        <p:spPr>
          <a:xfrm>
            <a:off x="9601200" y="3108960"/>
            <a:ext cx="2377440" cy="1188720"/>
          </a:xfrm>
          <a:prstGeom prst="roundRect">
            <a:avLst/>
          </a:prstGeom>
          <a:solidFill>
            <a:srgbClr val="F3E9D8"/>
          </a:solidFill>
          <a:ln w="19050">
            <a:solidFill>
              <a:srgbClr val="B8731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2A2118"/>
                </a:solidFill>
                <a:latin typeface="맑은 고딕"/>
              </a:rPr>
              <a:t>저장</a:t>
            </a:r>
          </a:p>
        </p:txBody>
      </p:sp>
      <p:sp>
        <p:nvSpPr>
          <p:cNvPr id="15" name="TextBox 14"/>
          <p:cNvSpPr txBox="1"/>
          <p:nvPr/>
        </p:nvSpPr>
        <p:spPr>
          <a:xfrm>
            <a:off x="960120" y="4846320"/>
            <a:ext cx="10058400" cy="548640"/>
          </a:xfrm>
          <a:prstGeom prst="rect">
            <a:avLst/>
          </a:prstGeom>
          <a:noFill/>
        </p:spPr>
        <p:txBody>
          <a:bodyPr wrap="square" anchor="t">
            <a:spAutoFit/>
          </a:bodyPr>
          <a:lstStyle/>
          <a:p>
            <a:pPr algn="l">
              <a:lnSpc>
                <a:spcPct val="100000"/>
              </a:lnSpc>
            </a:pPr>
            <a:r>
              <a:rPr sz="1700" b="0" i="1">
                <a:solidFill>
                  <a:srgbClr val="7A6A57"/>
                </a:solidFill>
                <a:latin typeface="맑은 고딕"/>
              </a:rPr>
              <a:t>입력의 번거로움은 없애되, 정확성은 '검토' 단계로 잡는다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6EE"/>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B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515600" cy="822960"/>
          </a:xfrm>
          <a:prstGeom prst="rect">
            <a:avLst/>
          </a:prstGeom>
          <a:noFill/>
        </p:spPr>
        <p:txBody>
          <a:bodyPr wrap="square" anchor="t">
            <a:spAutoFit/>
          </a:bodyPr>
          <a:lstStyle/>
          <a:p>
            <a:pPr algn="l">
              <a:lnSpc>
                <a:spcPct val="100000"/>
              </a:lnSpc>
            </a:pPr>
            <a:r>
              <a:rPr sz="3300" b="1" i="0">
                <a:solidFill>
                  <a:srgbClr val="B8731A"/>
                </a:solidFill>
                <a:latin typeface="맑은 고딕"/>
              </a:rPr>
              <a:t>핵심 차별점 3가지</a:t>
            </a:r>
          </a:p>
        </p:txBody>
      </p:sp>
      <p:sp>
        <p:nvSpPr>
          <p:cNvPr id="4" name="Rectangle 3"/>
          <p:cNvSpPr/>
          <p:nvPr/>
        </p:nvSpPr>
        <p:spPr>
          <a:xfrm>
            <a:off x="822960" y="1847088"/>
            <a:ext cx="3840480" cy="27432"/>
          </a:xfrm>
          <a:prstGeom prst="rect">
            <a:avLst/>
          </a:prstGeom>
          <a:solidFill>
            <a:srgbClr val="E0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400800"/>
            <a:ext cx="6400800" cy="320040"/>
          </a:xfrm>
          <a:prstGeom prst="rect">
            <a:avLst/>
          </a:prstGeom>
          <a:noFill/>
        </p:spPr>
        <p:txBody>
          <a:bodyPr wrap="square" anchor="t">
            <a:spAutoFit/>
          </a:bodyPr>
          <a:lstStyle/>
          <a:p>
            <a:pPr algn="l">
              <a:lnSpc>
                <a:spcPct val="100000"/>
              </a:lnSpc>
            </a:pPr>
            <a:r>
              <a:rPr sz="1000" b="0" i="0">
                <a:solidFill>
                  <a:srgbClr val="7A6A57"/>
                </a:solidFill>
                <a:latin typeface="맑은 고딕"/>
              </a:rPr>
              <a:t>알비(Albi) · 모바일 앱 프로그래밍</a:t>
            </a:r>
          </a:p>
        </p:txBody>
      </p:sp>
      <p:sp>
        <p:nvSpPr>
          <p:cNvPr id="6" name="TextBox 5"/>
          <p:cNvSpPr txBox="1"/>
          <p:nvPr/>
        </p:nvSpPr>
        <p:spPr>
          <a:xfrm>
            <a:off x="11094415" y="6400800"/>
            <a:ext cx="548640" cy="320040"/>
          </a:xfrm>
          <a:prstGeom prst="rect">
            <a:avLst/>
          </a:prstGeom>
          <a:noFill/>
        </p:spPr>
        <p:txBody>
          <a:bodyPr wrap="square" anchor="t">
            <a:spAutoFit/>
          </a:bodyPr>
          <a:lstStyle/>
          <a:p>
            <a:pPr algn="r">
              <a:lnSpc>
                <a:spcPct val="100000"/>
              </a:lnSpc>
            </a:pPr>
            <a:r>
              <a:rPr sz="1100" b="1" i="0">
                <a:solidFill>
                  <a:srgbClr val="B8731A"/>
                </a:solidFill>
                <a:latin typeface="맑은 고딕"/>
              </a:rPr>
              <a:t>4</a:t>
            </a:r>
          </a:p>
        </p:txBody>
      </p:sp>
      <p:sp>
        <p:nvSpPr>
          <p:cNvPr id="7" name="Rounded Rectangle 6"/>
          <p:cNvSpPr/>
          <p:nvPr/>
        </p:nvSpPr>
        <p:spPr>
          <a:xfrm>
            <a:off x="960120" y="2468880"/>
            <a:ext cx="3200400" cy="2651760"/>
          </a:xfrm>
          <a:prstGeom prst="roundRect">
            <a:avLst/>
          </a:prstGeom>
          <a:solidFill>
            <a:srgbClr val="F3E9D8"/>
          </a:solidFill>
          <a:ln w="19050">
            <a:solidFill>
              <a:srgbClr val="E0A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60120" y="2468880"/>
            <a:ext cx="3200400" cy="109728"/>
          </a:xfrm>
          <a:prstGeom prst="rect">
            <a:avLst/>
          </a:prstGeom>
          <a:solidFill>
            <a:srgbClr val="B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2880360"/>
            <a:ext cx="2743200" cy="731520"/>
          </a:xfrm>
          <a:prstGeom prst="rect">
            <a:avLst/>
          </a:prstGeom>
          <a:noFill/>
        </p:spPr>
        <p:txBody>
          <a:bodyPr wrap="square" anchor="t">
            <a:spAutoFit/>
          </a:bodyPr>
          <a:lstStyle/>
          <a:p>
            <a:pPr algn="l">
              <a:lnSpc>
                <a:spcPct val="100000"/>
              </a:lnSpc>
            </a:pPr>
            <a:r>
              <a:rPr sz="1900" b="1" i="0">
                <a:solidFill>
                  <a:srgbClr val="B8731A"/>
                </a:solidFill>
                <a:latin typeface="맑은 고딕"/>
              </a:rPr>
              <a:t>①  자연어 AI 파싱</a:t>
            </a:r>
          </a:p>
        </p:txBody>
      </p:sp>
      <p:sp>
        <p:nvSpPr>
          <p:cNvPr id="10" name="TextBox 9"/>
          <p:cNvSpPr txBox="1"/>
          <p:nvPr/>
        </p:nvSpPr>
        <p:spPr>
          <a:xfrm>
            <a:off x="1188720" y="3703320"/>
            <a:ext cx="2743200" cy="1188720"/>
          </a:xfrm>
          <a:prstGeom prst="rect">
            <a:avLst/>
          </a:prstGeom>
          <a:noFill/>
        </p:spPr>
        <p:txBody>
          <a:bodyPr wrap="square" anchor="t">
            <a:spAutoFit/>
          </a:bodyPr>
          <a:lstStyle/>
          <a:p>
            <a:pPr algn="l">
              <a:lnSpc>
                <a:spcPct val="110000"/>
              </a:lnSpc>
            </a:pPr>
            <a:r>
              <a:rPr sz="1700" b="0" i="0">
                <a:solidFill>
                  <a:srgbClr val="2A2118"/>
                </a:solidFill>
                <a:latin typeface="맑은 고딕"/>
              </a:rPr>
              <a:t>폼이 아니라</a:t>
            </a:r>
          </a:p>
          <a:p>
            <a:pPr algn="l">
              <a:lnSpc>
                <a:spcPct val="110000"/>
              </a:lnSpc>
            </a:pPr>
            <a:r>
              <a:rPr sz="1700" b="0" i="0">
                <a:solidFill>
                  <a:srgbClr val="2A2118"/>
                </a:solidFill>
                <a:latin typeface="맑은 고딕"/>
              </a:rPr>
              <a:t>말하듯 입력</a:t>
            </a:r>
          </a:p>
        </p:txBody>
      </p:sp>
      <p:sp>
        <p:nvSpPr>
          <p:cNvPr id="11" name="Rounded Rectangle 10"/>
          <p:cNvSpPr/>
          <p:nvPr/>
        </p:nvSpPr>
        <p:spPr>
          <a:xfrm>
            <a:off x="4572000" y="2468880"/>
            <a:ext cx="3200400" cy="2651760"/>
          </a:xfrm>
          <a:prstGeom prst="roundRect">
            <a:avLst/>
          </a:prstGeom>
          <a:solidFill>
            <a:srgbClr val="F3E9D8"/>
          </a:solidFill>
          <a:ln w="19050">
            <a:solidFill>
              <a:srgbClr val="E0A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2468880"/>
            <a:ext cx="3200400" cy="109728"/>
          </a:xfrm>
          <a:prstGeom prst="rect">
            <a:avLst/>
          </a:prstGeom>
          <a:solidFill>
            <a:srgbClr val="B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880360"/>
            <a:ext cx="2743200" cy="731520"/>
          </a:xfrm>
          <a:prstGeom prst="rect">
            <a:avLst/>
          </a:prstGeom>
          <a:noFill/>
        </p:spPr>
        <p:txBody>
          <a:bodyPr wrap="square" anchor="t">
            <a:spAutoFit/>
          </a:bodyPr>
          <a:lstStyle/>
          <a:p>
            <a:pPr algn="l">
              <a:lnSpc>
                <a:spcPct val="100000"/>
              </a:lnSpc>
            </a:pPr>
            <a:r>
              <a:rPr sz="1900" b="1" i="0">
                <a:solidFill>
                  <a:srgbClr val="B8731A"/>
                </a:solidFill>
                <a:latin typeface="맑은 고딕"/>
              </a:rPr>
              <a:t>②  AI 없어도 동작</a:t>
            </a:r>
          </a:p>
        </p:txBody>
      </p:sp>
      <p:sp>
        <p:nvSpPr>
          <p:cNvPr id="14" name="TextBox 13"/>
          <p:cNvSpPr txBox="1"/>
          <p:nvPr/>
        </p:nvSpPr>
        <p:spPr>
          <a:xfrm>
            <a:off x="4800600" y="3703320"/>
            <a:ext cx="2743200" cy="1188720"/>
          </a:xfrm>
          <a:prstGeom prst="rect">
            <a:avLst/>
          </a:prstGeom>
          <a:noFill/>
        </p:spPr>
        <p:txBody>
          <a:bodyPr wrap="square" anchor="t">
            <a:spAutoFit/>
          </a:bodyPr>
          <a:lstStyle/>
          <a:p>
            <a:pPr algn="l">
              <a:lnSpc>
                <a:spcPct val="110000"/>
              </a:lnSpc>
            </a:pPr>
            <a:r>
              <a:rPr sz="1700" b="0" i="0">
                <a:solidFill>
                  <a:srgbClr val="2A2118"/>
                </a:solidFill>
                <a:latin typeface="맑은 고딕"/>
              </a:rPr>
              <a:t>규칙 기반 파서가</a:t>
            </a:r>
          </a:p>
          <a:p>
            <a:pPr algn="l">
              <a:lnSpc>
                <a:spcPct val="110000"/>
              </a:lnSpc>
            </a:pPr>
            <a:r>
              <a:rPr sz="1700" b="0" i="0">
                <a:solidFill>
                  <a:srgbClr val="2A2118"/>
                </a:solidFill>
                <a:latin typeface="맑은 고딕"/>
              </a:rPr>
              <a:t>항상 fallback</a:t>
            </a:r>
          </a:p>
        </p:txBody>
      </p:sp>
      <p:sp>
        <p:nvSpPr>
          <p:cNvPr id="15" name="Rounded Rectangle 14"/>
          <p:cNvSpPr/>
          <p:nvPr/>
        </p:nvSpPr>
        <p:spPr>
          <a:xfrm>
            <a:off x="8183880" y="2468880"/>
            <a:ext cx="3200400" cy="2651760"/>
          </a:xfrm>
          <a:prstGeom prst="roundRect">
            <a:avLst/>
          </a:prstGeom>
          <a:solidFill>
            <a:srgbClr val="F3E9D8"/>
          </a:solidFill>
          <a:ln w="19050">
            <a:solidFill>
              <a:srgbClr val="E0A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83880" y="2468880"/>
            <a:ext cx="3200400" cy="109728"/>
          </a:xfrm>
          <a:prstGeom prst="rect">
            <a:avLst/>
          </a:prstGeom>
          <a:solidFill>
            <a:srgbClr val="B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880360"/>
            <a:ext cx="2743200" cy="731520"/>
          </a:xfrm>
          <a:prstGeom prst="rect">
            <a:avLst/>
          </a:prstGeom>
          <a:noFill/>
        </p:spPr>
        <p:txBody>
          <a:bodyPr wrap="square" anchor="t">
            <a:spAutoFit/>
          </a:bodyPr>
          <a:lstStyle/>
          <a:p>
            <a:pPr algn="l">
              <a:lnSpc>
                <a:spcPct val="100000"/>
              </a:lnSpc>
            </a:pPr>
            <a:r>
              <a:rPr sz="1900" b="1" i="0">
                <a:solidFill>
                  <a:srgbClr val="B8731A"/>
                </a:solidFill>
                <a:latin typeface="맑은 고딕"/>
              </a:rPr>
              <a:t>③  저장 전 검토</a:t>
            </a:r>
          </a:p>
        </p:txBody>
      </p:sp>
      <p:sp>
        <p:nvSpPr>
          <p:cNvPr id="18" name="TextBox 17"/>
          <p:cNvSpPr txBox="1"/>
          <p:nvPr/>
        </p:nvSpPr>
        <p:spPr>
          <a:xfrm>
            <a:off x="8412480" y="3703320"/>
            <a:ext cx="2743200" cy="1188720"/>
          </a:xfrm>
          <a:prstGeom prst="rect">
            <a:avLst/>
          </a:prstGeom>
          <a:noFill/>
        </p:spPr>
        <p:txBody>
          <a:bodyPr wrap="square" anchor="t">
            <a:spAutoFit/>
          </a:bodyPr>
          <a:lstStyle/>
          <a:p>
            <a:pPr algn="l">
              <a:lnSpc>
                <a:spcPct val="110000"/>
              </a:lnSpc>
            </a:pPr>
            <a:r>
              <a:rPr sz="1700" b="0" i="0">
                <a:solidFill>
                  <a:srgbClr val="2A2118"/>
                </a:solidFill>
                <a:latin typeface="맑은 고딕"/>
              </a:rPr>
              <a:t>자동 저장 금지</a:t>
            </a:r>
          </a:p>
          <a:p>
            <a:pPr algn="l">
              <a:lnSpc>
                <a:spcPct val="110000"/>
              </a:lnSpc>
            </a:pPr>
            <a:r>
              <a:rPr sz="1700" b="0" i="0">
                <a:solidFill>
                  <a:srgbClr val="2A2118"/>
                </a:solidFill>
                <a:latin typeface="맑은 고딕"/>
              </a:rPr>
              <a:t>안전 설계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6EE"/>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B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515600" cy="822960"/>
          </a:xfrm>
          <a:prstGeom prst="rect">
            <a:avLst/>
          </a:prstGeom>
          <a:noFill/>
        </p:spPr>
        <p:txBody>
          <a:bodyPr wrap="square" anchor="t">
            <a:spAutoFit/>
          </a:bodyPr>
          <a:lstStyle/>
          <a:p>
            <a:pPr algn="l">
              <a:lnSpc>
                <a:spcPct val="100000"/>
              </a:lnSpc>
            </a:pPr>
            <a:r>
              <a:rPr sz="3300" b="1" i="0">
                <a:solidFill>
                  <a:srgbClr val="B8731A"/>
                </a:solidFill>
                <a:latin typeface="맑은 고딕"/>
              </a:rPr>
              <a:t>아키텍처 — MVVM + Riverpod</a:t>
            </a:r>
          </a:p>
        </p:txBody>
      </p:sp>
      <p:sp>
        <p:nvSpPr>
          <p:cNvPr id="4" name="TextBox 3"/>
          <p:cNvSpPr txBox="1"/>
          <p:nvPr/>
        </p:nvSpPr>
        <p:spPr>
          <a:xfrm>
            <a:off x="804672" y="1325880"/>
            <a:ext cx="10789920" cy="548640"/>
          </a:xfrm>
          <a:prstGeom prst="rect">
            <a:avLst/>
          </a:prstGeom>
          <a:noFill/>
        </p:spPr>
        <p:txBody>
          <a:bodyPr wrap="square" anchor="t">
            <a:spAutoFit/>
          </a:bodyPr>
          <a:lstStyle/>
          <a:p>
            <a:pPr algn="l">
              <a:lnSpc>
                <a:spcPct val="100000"/>
              </a:lnSpc>
            </a:pPr>
            <a:r>
              <a:rPr sz="1800" b="0" i="1">
                <a:solidFill>
                  <a:srgbClr val="7A6A57"/>
                </a:solidFill>
                <a:latin typeface="맑은 고딕"/>
              </a:rPr>
              <a:t>역할이 분리된 단방향 구조</a:t>
            </a:r>
          </a:p>
        </p:txBody>
      </p:sp>
      <p:sp>
        <p:nvSpPr>
          <p:cNvPr id="5" name="Rectangle 4"/>
          <p:cNvSpPr/>
          <p:nvPr/>
        </p:nvSpPr>
        <p:spPr>
          <a:xfrm>
            <a:off x="822960" y="1847088"/>
            <a:ext cx="3840480" cy="27432"/>
          </a:xfrm>
          <a:prstGeom prst="rect">
            <a:avLst/>
          </a:prstGeom>
          <a:solidFill>
            <a:srgbClr val="E0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6400800"/>
            <a:ext cx="6400800" cy="320040"/>
          </a:xfrm>
          <a:prstGeom prst="rect">
            <a:avLst/>
          </a:prstGeom>
          <a:noFill/>
        </p:spPr>
        <p:txBody>
          <a:bodyPr wrap="square" anchor="t">
            <a:spAutoFit/>
          </a:bodyPr>
          <a:lstStyle/>
          <a:p>
            <a:pPr algn="l">
              <a:lnSpc>
                <a:spcPct val="100000"/>
              </a:lnSpc>
            </a:pPr>
            <a:r>
              <a:rPr sz="1000" b="0" i="0">
                <a:solidFill>
                  <a:srgbClr val="7A6A57"/>
                </a:solidFill>
                <a:latin typeface="맑은 고딕"/>
              </a:rPr>
              <a:t>알비(Albi) · 모바일 앱 프로그래밍</a:t>
            </a:r>
          </a:p>
        </p:txBody>
      </p:sp>
      <p:sp>
        <p:nvSpPr>
          <p:cNvPr id="7" name="TextBox 6"/>
          <p:cNvSpPr txBox="1"/>
          <p:nvPr/>
        </p:nvSpPr>
        <p:spPr>
          <a:xfrm>
            <a:off x="11094415" y="6400800"/>
            <a:ext cx="548640" cy="320040"/>
          </a:xfrm>
          <a:prstGeom prst="rect">
            <a:avLst/>
          </a:prstGeom>
          <a:noFill/>
        </p:spPr>
        <p:txBody>
          <a:bodyPr wrap="square" anchor="t">
            <a:spAutoFit/>
          </a:bodyPr>
          <a:lstStyle/>
          <a:p>
            <a:pPr algn="r">
              <a:lnSpc>
                <a:spcPct val="100000"/>
              </a:lnSpc>
            </a:pPr>
            <a:r>
              <a:rPr sz="1100" b="1" i="0">
                <a:solidFill>
                  <a:srgbClr val="B8731A"/>
                </a:solidFill>
                <a:latin typeface="맑은 고딕"/>
              </a:rPr>
              <a:t>5</a:t>
            </a:r>
          </a:p>
        </p:txBody>
      </p:sp>
      <p:sp>
        <p:nvSpPr>
          <p:cNvPr id="8" name="Rounded Rectangle 7"/>
          <p:cNvSpPr/>
          <p:nvPr/>
        </p:nvSpPr>
        <p:spPr>
          <a:xfrm>
            <a:off x="1280160" y="2331720"/>
            <a:ext cx="5669280" cy="841248"/>
          </a:xfrm>
          <a:prstGeom prst="roundRect">
            <a:avLst/>
          </a:prstGeom>
          <a:solidFill>
            <a:srgbClr val="B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2441448"/>
            <a:ext cx="2377440" cy="841248"/>
          </a:xfrm>
          <a:prstGeom prst="rect">
            <a:avLst/>
          </a:prstGeom>
          <a:noFill/>
        </p:spPr>
        <p:txBody>
          <a:bodyPr wrap="square" anchor="ctr">
            <a:spAutoFit/>
          </a:bodyPr>
          <a:lstStyle/>
          <a:p>
            <a:pPr algn="l">
              <a:lnSpc>
                <a:spcPct val="100000"/>
              </a:lnSpc>
            </a:pPr>
            <a:r>
              <a:rPr sz="2000" b="1" i="0">
                <a:solidFill>
                  <a:srgbClr val="FFFFFF"/>
                </a:solidFill>
                <a:latin typeface="맑은 고딕"/>
              </a:rPr>
              <a:t>View</a:t>
            </a:r>
          </a:p>
        </p:txBody>
      </p:sp>
      <p:sp>
        <p:nvSpPr>
          <p:cNvPr id="10" name="TextBox 9"/>
          <p:cNvSpPr txBox="1"/>
          <p:nvPr/>
        </p:nvSpPr>
        <p:spPr>
          <a:xfrm>
            <a:off x="4023360" y="2441448"/>
            <a:ext cx="2743200" cy="841248"/>
          </a:xfrm>
          <a:prstGeom prst="rect">
            <a:avLst/>
          </a:prstGeom>
          <a:noFill/>
        </p:spPr>
        <p:txBody>
          <a:bodyPr wrap="square" anchor="ctr">
            <a:spAutoFit/>
          </a:bodyPr>
          <a:lstStyle/>
          <a:p>
            <a:pPr algn="l">
              <a:lnSpc>
                <a:spcPct val="100000"/>
              </a:lnSpc>
            </a:pPr>
            <a:r>
              <a:rPr sz="1500" b="0" i="0">
                <a:solidFill>
                  <a:srgbClr val="FFFFFF"/>
                </a:solidFill>
                <a:latin typeface="맑은 고딕"/>
              </a:rPr>
              <a:t>화면 표시만 담당</a:t>
            </a:r>
          </a:p>
        </p:txBody>
      </p:sp>
      <p:sp>
        <p:nvSpPr>
          <p:cNvPr id="11" name="TextBox 10"/>
          <p:cNvSpPr txBox="1"/>
          <p:nvPr/>
        </p:nvSpPr>
        <p:spPr>
          <a:xfrm>
            <a:off x="3931920" y="3008375"/>
            <a:ext cx="457200" cy="457200"/>
          </a:xfrm>
          <a:prstGeom prst="rect">
            <a:avLst/>
          </a:prstGeom>
          <a:noFill/>
        </p:spPr>
        <p:txBody>
          <a:bodyPr wrap="square" anchor="t">
            <a:spAutoFit/>
          </a:bodyPr>
          <a:lstStyle/>
          <a:p>
            <a:pPr algn="ctr">
              <a:lnSpc>
                <a:spcPct val="100000"/>
              </a:lnSpc>
            </a:pPr>
            <a:r>
              <a:rPr sz="2000" b="1" i="0">
                <a:solidFill>
                  <a:srgbClr val="B8731A"/>
                </a:solidFill>
                <a:latin typeface="맑은 고딕"/>
              </a:rPr>
              <a:t>↓</a:t>
            </a:r>
          </a:p>
        </p:txBody>
      </p:sp>
      <p:sp>
        <p:nvSpPr>
          <p:cNvPr id="12" name="Rounded Rectangle 11"/>
          <p:cNvSpPr/>
          <p:nvPr/>
        </p:nvSpPr>
        <p:spPr>
          <a:xfrm>
            <a:off x="1280160" y="3429000"/>
            <a:ext cx="5669280" cy="841248"/>
          </a:xfrm>
          <a:prstGeom prst="roundRect">
            <a:avLst/>
          </a:prstGeom>
          <a:solidFill>
            <a:srgbClr val="E0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00200" y="3538728"/>
            <a:ext cx="2377440" cy="841248"/>
          </a:xfrm>
          <a:prstGeom prst="rect">
            <a:avLst/>
          </a:prstGeom>
          <a:noFill/>
        </p:spPr>
        <p:txBody>
          <a:bodyPr wrap="square" anchor="ctr">
            <a:spAutoFit/>
          </a:bodyPr>
          <a:lstStyle/>
          <a:p>
            <a:pPr algn="l">
              <a:lnSpc>
                <a:spcPct val="100000"/>
              </a:lnSpc>
            </a:pPr>
            <a:r>
              <a:rPr sz="2000" b="1" i="0">
                <a:solidFill>
                  <a:srgbClr val="2A2118"/>
                </a:solidFill>
                <a:latin typeface="맑은 고딕"/>
              </a:rPr>
              <a:t>ViewModel</a:t>
            </a:r>
          </a:p>
        </p:txBody>
      </p:sp>
      <p:sp>
        <p:nvSpPr>
          <p:cNvPr id="14" name="TextBox 13"/>
          <p:cNvSpPr txBox="1"/>
          <p:nvPr/>
        </p:nvSpPr>
        <p:spPr>
          <a:xfrm>
            <a:off x="4023360" y="3538728"/>
            <a:ext cx="2743200" cy="841248"/>
          </a:xfrm>
          <a:prstGeom prst="rect">
            <a:avLst/>
          </a:prstGeom>
          <a:noFill/>
        </p:spPr>
        <p:txBody>
          <a:bodyPr wrap="square" anchor="ctr">
            <a:spAutoFit/>
          </a:bodyPr>
          <a:lstStyle/>
          <a:p>
            <a:pPr algn="l">
              <a:lnSpc>
                <a:spcPct val="100000"/>
              </a:lnSpc>
            </a:pPr>
            <a:r>
              <a:rPr sz="1500" b="0" i="0">
                <a:solidFill>
                  <a:srgbClr val="2A2118"/>
                </a:solidFill>
                <a:latin typeface="맑은 고딕"/>
              </a:rPr>
              <a:t>상태 · 로직 (Riverpod)</a:t>
            </a:r>
          </a:p>
        </p:txBody>
      </p:sp>
      <p:sp>
        <p:nvSpPr>
          <p:cNvPr id="15" name="TextBox 14"/>
          <p:cNvSpPr txBox="1"/>
          <p:nvPr/>
        </p:nvSpPr>
        <p:spPr>
          <a:xfrm>
            <a:off x="3931920" y="4105656"/>
            <a:ext cx="457200" cy="457200"/>
          </a:xfrm>
          <a:prstGeom prst="rect">
            <a:avLst/>
          </a:prstGeom>
          <a:noFill/>
        </p:spPr>
        <p:txBody>
          <a:bodyPr wrap="square" anchor="t">
            <a:spAutoFit/>
          </a:bodyPr>
          <a:lstStyle/>
          <a:p>
            <a:pPr algn="ctr">
              <a:lnSpc>
                <a:spcPct val="100000"/>
              </a:lnSpc>
            </a:pPr>
            <a:r>
              <a:rPr sz="2000" b="1" i="0">
                <a:solidFill>
                  <a:srgbClr val="B8731A"/>
                </a:solidFill>
                <a:latin typeface="맑은 고딕"/>
              </a:rPr>
              <a:t>↓</a:t>
            </a:r>
          </a:p>
        </p:txBody>
      </p:sp>
      <p:sp>
        <p:nvSpPr>
          <p:cNvPr id="16" name="Rounded Rectangle 15"/>
          <p:cNvSpPr/>
          <p:nvPr/>
        </p:nvSpPr>
        <p:spPr>
          <a:xfrm>
            <a:off x="1280160" y="4526280"/>
            <a:ext cx="5669280" cy="841248"/>
          </a:xfrm>
          <a:prstGeom prst="roundRect">
            <a:avLst/>
          </a:prstGeom>
          <a:solidFill>
            <a:srgbClr val="D9B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600200" y="4636008"/>
            <a:ext cx="2377440" cy="841248"/>
          </a:xfrm>
          <a:prstGeom prst="rect">
            <a:avLst/>
          </a:prstGeom>
          <a:noFill/>
        </p:spPr>
        <p:txBody>
          <a:bodyPr wrap="square" anchor="ctr">
            <a:spAutoFit/>
          </a:bodyPr>
          <a:lstStyle/>
          <a:p>
            <a:pPr algn="l">
              <a:lnSpc>
                <a:spcPct val="100000"/>
              </a:lnSpc>
            </a:pPr>
            <a:r>
              <a:rPr sz="2000" b="1" i="0">
                <a:solidFill>
                  <a:srgbClr val="2A2118"/>
                </a:solidFill>
                <a:latin typeface="맑은 고딕"/>
              </a:rPr>
              <a:t>Repository</a:t>
            </a:r>
          </a:p>
        </p:txBody>
      </p:sp>
      <p:sp>
        <p:nvSpPr>
          <p:cNvPr id="18" name="TextBox 17"/>
          <p:cNvSpPr txBox="1"/>
          <p:nvPr/>
        </p:nvSpPr>
        <p:spPr>
          <a:xfrm>
            <a:off x="4023360" y="4636008"/>
            <a:ext cx="2743200" cy="841248"/>
          </a:xfrm>
          <a:prstGeom prst="rect">
            <a:avLst/>
          </a:prstGeom>
          <a:noFill/>
        </p:spPr>
        <p:txBody>
          <a:bodyPr wrap="square" anchor="ctr">
            <a:spAutoFit/>
          </a:bodyPr>
          <a:lstStyle/>
          <a:p>
            <a:pPr algn="l">
              <a:lnSpc>
                <a:spcPct val="100000"/>
              </a:lnSpc>
            </a:pPr>
            <a:r>
              <a:rPr sz="1500" b="0" i="0">
                <a:solidFill>
                  <a:srgbClr val="2A2118"/>
                </a:solidFill>
                <a:latin typeface="맑은 고딕"/>
              </a:rPr>
              <a:t>데이터베이스 접근</a:t>
            </a:r>
          </a:p>
        </p:txBody>
      </p:sp>
      <p:sp>
        <p:nvSpPr>
          <p:cNvPr id="19" name="TextBox 18"/>
          <p:cNvSpPr txBox="1"/>
          <p:nvPr/>
        </p:nvSpPr>
        <p:spPr>
          <a:xfrm>
            <a:off x="3931920" y="5202936"/>
            <a:ext cx="457200" cy="457200"/>
          </a:xfrm>
          <a:prstGeom prst="rect">
            <a:avLst/>
          </a:prstGeom>
          <a:noFill/>
        </p:spPr>
        <p:txBody>
          <a:bodyPr wrap="square" anchor="t">
            <a:spAutoFit/>
          </a:bodyPr>
          <a:lstStyle/>
          <a:p>
            <a:pPr algn="ctr">
              <a:lnSpc>
                <a:spcPct val="100000"/>
              </a:lnSpc>
            </a:pPr>
            <a:r>
              <a:rPr sz="2000" b="1" i="0">
                <a:solidFill>
                  <a:srgbClr val="B8731A"/>
                </a:solidFill>
                <a:latin typeface="맑은 고딕"/>
              </a:rPr>
              <a:t>↓</a:t>
            </a:r>
          </a:p>
        </p:txBody>
      </p:sp>
      <p:sp>
        <p:nvSpPr>
          <p:cNvPr id="20" name="Rounded Rectangle 19"/>
          <p:cNvSpPr/>
          <p:nvPr/>
        </p:nvSpPr>
        <p:spPr>
          <a:xfrm>
            <a:off x="1280160" y="5623560"/>
            <a:ext cx="5669280" cy="841248"/>
          </a:xfrm>
          <a:prstGeom prst="roundRect">
            <a:avLst/>
          </a:prstGeom>
          <a:solidFill>
            <a:srgbClr val="F3E9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600200" y="5733288"/>
            <a:ext cx="2377440" cy="841248"/>
          </a:xfrm>
          <a:prstGeom prst="rect">
            <a:avLst/>
          </a:prstGeom>
          <a:noFill/>
        </p:spPr>
        <p:txBody>
          <a:bodyPr wrap="square" anchor="ctr">
            <a:spAutoFit/>
          </a:bodyPr>
          <a:lstStyle/>
          <a:p>
            <a:pPr algn="l">
              <a:lnSpc>
                <a:spcPct val="100000"/>
              </a:lnSpc>
            </a:pPr>
            <a:r>
              <a:rPr sz="2000" b="1" i="0">
                <a:solidFill>
                  <a:srgbClr val="2A2118"/>
                </a:solidFill>
                <a:latin typeface="맑은 고딕"/>
              </a:rPr>
              <a:t>SQLite</a:t>
            </a:r>
          </a:p>
        </p:txBody>
      </p:sp>
      <p:sp>
        <p:nvSpPr>
          <p:cNvPr id="22" name="TextBox 21"/>
          <p:cNvSpPr txBox="1"/>
          <p:nvPr/>
        </p:nvSpPr>
        <p:spPr>
          <a:xfrm>
            <a:off x="4023360" y="5733288"/>
            <a:ext cx="2743200" cy="841248"/>
          </a:xfrm>
          <a:prstGeom prst="rect">
            <a:avLst/>
          </a:prstGeom>
          <a:noFill/>
        </p:spPr>
        <p:txBody>
          <a:bodyPr wrap="square" anchor="ctr">
            <a:spAutoFit/>
          </a:bodyPr>
          <a:lstStyle/>
          <a:p>
            <a:pPr algn="l">
              <a:lnSpc>
                <a:spcPct val="100000"/>
              </a:lnSpc>
            </a:pPr>
            <a:r>
              <a:rPr sz="1500" b="0" i="0">
                <a:solidFill>
                  <a:srgbClr val="2A2118"/>
                </a:solidFill>
                <a:latin typeface="맑은 고딕"/>
              </a:rPr>
              <a:t>로컬 저장</a:t>
            </a:r>
          </a:p>
        </p:txBody>
      </p:sp>
      <p:sp>
        <p:nvSpPr>
          <p:cNvPr id="23" name="TextBox 22"/>
          <p:cNvSpPr txBox="1"/>
          <p:nvPr/>
        </p:nvSpPr>
        <p:spPr>
          <a:xfrm>
            <a:off x="7498079" y="3108960"/>
            <a:ext cx="4023360" cy="1828800"/>
          </a:xfrm>
          <a:prstGeom prst="rect">
            <a:avLst/>
          </a:prstGeom>
          <a:noFill/>
        </p:spPr>
        <p:txBody>
          <a:bodyPr wrap="square" anchor="t">
            <a:spAutoFit/>
          </a:bodyPr>
          <a:lstStyle/>
          <a:p>
            <a:pPr algn="l">
              <a:lnSpc>
                <a:spcPct val="120000"/>
              </a:lnSpc>
            </a:pPr>
            <a:r>
              <a:rPr sz="1800" b="0" i="0">
                <a:solidFill>
                  <a:srgbClr val="7A6A57"/>
                </a:solidFill>
                <a:latin typeface="맑은 고딕"/>
              </a:rPr>
              <a:t>화면이 DB를 직접 건드리지 않도록 강제</a:t>
            </a:r>
          </a:p>
          <a:p>
            <a:pPr algn="l">
              <a:lnSpc>
                <a:spcPct val="120000"/>
              </a:lnSpc>
            </a:pPr>
            <a:r>
              <a:rPr sz="1800" b="0" i="0">
                <a:solidFill>
                  <a:srgbClr val="7A6A57"/>
                </a:solidFill>
                <a:latin typeface="맑은 고딕"/>
              </a:rPr>
              <a:t>→ 유지보수 · 분업 용이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6EE"/>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B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515600" cy="822960"/>
          </a:xfrm>
          <a:prstGeom prst="rect">
            <a:avLst/>
          </a:prstGeom>
          <a:noFill/>
        </p:spPr>
        <p:txBody>
          <a:bodyPr wrap="square" anchor="t">
            <a:spAutoFit/>
          </a:bodyPr>
          <a:lstStyle/>
          <a:p>
            <a:pPr algn="l">
              <a:lnSpc>
                <a:spcPct val="100000"/>
              </a:lnSpc>
            </a:pPr>
            <a:r>
              <a:rPr sz="3300" b="1" i="0">
                <a:solidFill>
                  <a:srgbClr val="B8731A"/>
                </a:solidFill>
                <a:latin typeface="맑은 고딕"/>
              </a:rPr>
              <a:t>AI 파싱 엔진 (ParseOrchestrator)</a:t>
            </a:r>
          </a:p>
        </p:txBody>
      </p:sp>
      <p:sp>
        <p:nvSpPr>
          <p:cNvPr id="4" name="TextBox 3"/>
          <p:cNvSpPr txBox="1"/>
          <p:nvPr/>
        </p:nvSpPr>
        <p:spPr>
          <a:xfrm>
            <a:off x="804672" y="1325880"/>
            <a:ext cx="10789920" cy="548640"/>
          </a:xfrm>
          <a:prstGeom prst="rect">
            <a:avLst/>
          </a:prstGeom>
          <a:noFill/>
        </p:spPr>
        <p:txBody>
          <a:bodyPr wrap="square" anchor="t">
            <a:spAutoFit/>
          </a:bodyPr>
          <a:lstStyle/>
          <a:p>
            <a:pPr algn="l">
              <a:lnSpc>
                <a:spcPct val="100000"/>
              </a:lnSpc>
            </a:pPr>
            <a:r>
              <a:rPr sz="1800" b="0" i="1">
                <a:solidFill>
                  <a:srgbClr val="7A6A57"/>
                </a:solidFill>
                <a:latin typeface="맑은 고딕"/>
              </a:rPr>
              <a:t>AI를 쓰되, AI에 의존하지 않는다</a:t>
            </a:r>
          </a:p>
        </p:txBody>
      </p:sp>
      <p:sp>
        <p:nvSpPr>
          <p:cNvPr id="5" name="Rectangle 4"/>
          <p:cNvSpPr/>
          <p:nvPr/>
        </p:nvSpPr>
        <p:spPr>
          <a:xfrm>
            <a:off x="822960" y="1847088"/>
            <a:ext cx="3840480" cy="27432"/>
          </a:xfrm>
          <a:prstGeom prst="rect">
            <a:avLst/>
          </a:prstGeom>
          <a:solidFill>
            <a:srgbClr val="E0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6400800"/>
            <a:ext cx="6400800" cy="320040"/>
          </a:xfrm>
          <a:prstGeom prst="rect">
            <a:avLst/>
          </a:prstGeom>
          <a:noFill/>
        </p:spPr>
        <p:txBody>
          <a:bodyPr wrap="square" anchor="t">
            <a:spAutoFit/>
          </a:bodyPr>
          <a:lstStyle/>
          <a:p>
            <a:pPr algn="l">
              <a:lnSpc>
                <a:spcPct val="100000"/>
              </a:lnSpc>
            </a:pPr>
            <a:r>
              <a:rPr sz="1000" b="0" i="0">
                <a:solidFill>
                  <a:srgbClr val="7A6A57"/>
                </a:solidFill>
                <a:latin typeface="맑은 고딕"/>
              </a:rPr>
              <a:t>알비(Albi) · 모바일 앱 프로그래밍</a:t>
            </a:r>
          </a:p>
        </p:txBody>
      </p:sp>
      <p:sp>
        <p:nvSpPr>
          <p:cNvPr id="7" name="TextBox 6"/>
          <p:cNvSpPr txBox="1"/>
          <p:nvPr/>
        </p:nvSpPr>
        <p:spPr>
          <a:xfrm>
            <a:off x="11094415" y="6400800"/>
            <a:ext cx="548640" cy="320040"/>
          </a:xfrm>
          <a:prstGeom prst="rect">
            <a:avLst/>
          </a:prstGeom>
          <a:noFill/>
        </p:spPr>
        <p:txBody>
          <a:bodyPr wrap="square" anchor="t">
            <a:spAutoFit/>
          </a:bodyPr>
          <a:lstStyle/>
          <a:p>
            <a:pPr algn="r">
              <a:lnSpc>
                <a:spcPct val="100000"/>
              </a:lnSpc>
            </a:pPr>
            <a:r>
              <a:rPr sz="1100" b="1" i="0">
                <a:solidFill>
                  <a:srgbClr val="B8731A"/>
                </a:solidFill>
                <a:latin typeface="맑은 고딕"/>
              </a:rPr>
              <a:t>6</a:t>
            </a:r>
          </a:p>
        </p:txBody>
      </p:sp>
      <p:sp>
        <p:nvSpPr>
          <p:cNvPr id="8" name="TextBox 7"/>
          <p:cNvSpPr txBox="1"/>
          <p:nvPr/>
        </p:nvSpPr>
        <p:spPr>
          <a:xfrm>
            <a:off x="914400" y="2331720"/>
            <a:ext cx="10424160" cy="3291840"/>
          </a:xfrm>
          <a:prstGeom prst="rect">
            <a:avLst/>
          </a:prstGeom>
          <a:noFill/>
        </p:spPr>
        <p:txBody>
          <a:bodyPr wrap="square">
            <a:spAutoFit/>
          </a:bodyPr>
          <a:lstStyle/>
          <a:p>
            <a:pPr>
              <a:lnSpc>
                <a:spcPct val="105000"/>
              </a:lnSpc>
              <a:spcAft>
                <a:spcPts val="1500"/>
              </a:spcAft>
            </a:pPr>
            <a:r>
              <a:rPr sz="2000" b="1">
                <a:solidFill>
                  <a:srgbClr val="B8731A"/>
                </a:solidFill>
                <a:latin typeface="맑은 고딕"/>
              </a:rPr>
              <a:t>●  </a:t>
            </a:r>
            <a:r>
              <a:rPr sz="2000">
                <a:solidFill>
                  <a:srgbClr val="2A2118"/>
                </a:solidFill>
                <a:latin typeface="맑은 고딕"/>
              </a:rPr>
              <a:t>입력 → AI 사용 가능 여부 확인 → 가능하면 Gemini 호출</a:t>
            </a:r>
          </a:p>
          <a:p>
            <a:pPr>
              <a:lnSpc>
                <a:spcPct val="105000"/>
              </a:lnSpc>
              <a:spcAft>
                <a:spcPts val="1500"/>
              </a:spcAft>
            </a:pPr>
            <a:r>
              <a:rPr sz="2000" b="1">
                <a:solidFill>
                  <a:srgbClr val="B8731A"/>
                </a:solidFill>
                <a:latin typeface="맑은 고딕"/>
              </a:rPr>
              <a:t>●  </a:t>
            </a:r>
            <a:r>
              <a:rPr sz="2000">
                <a:solidFill>
                  <a:srgbClr val="2A2118"/>
                </a:solidFill>
                <a:latin typeface="맑은 고딕"/>
              </a:rPr>
              <a:t>실패하면 규칙 기반 파서로 자동 전환 — 앱이 멈추지 않음</a:t>
            </a:r>
          </a:p>
          <a:p>
            <a:pPr>
              <a:lnSpc>
                <a:spcPct val="105000"/>
              </a:lnSpc>
              <a:spcAft>
                <a:spcPts val="1500"/>
              </a:spcAft>
            </a:pPr>
            <a:r>
              <a:rPr sz="2000" b="1">
                <a:solidFill>
                  <a:srgbClr val="B8731A"/>
                </a:solidFill>
                <a:latin typeface="맑은 고딕"/>
              </a:rPr>
              <a:t>●  </a:t>
            </a:r>
            <a:r>
              <a:rPr sz="2000">
                <a:solidFill>
                  <a:srgbClr val="2A2118"/>
                </a:solidFill>
                <a:latin typeface="맑은 고딕"/>
              </a:rPr>
              <a:t>재시도 · 취소(CancelToken) · API 사용량 할당량 관리</a:t>
            </a:r>
          </a:p>
          <a:p>
            <a:pPr>
              <a:lnSpc>
                <a:spcPct val="105000"/>
              </a:lnSpc>
              <a:spcAft>
                <a:spcPts val="1500"/>
              </a:spcAft>
            </a:pPr>
            <a:r>
              <a:rPr sz="2000" b="1">
                <a:solidFill>
                  <a:srgbClr val="B8731A"/>
                </a:solidFill>
                <a:latin typeface="맑은 고딕"/>
              </a:rPr>
              <a:t>●  </a:t>
            </a:r>
            <a:r>
              <a:rPr sz="2000">
                <a:solidFill>
                  <a:srgbClr val="2A2118"/>
                </a:solidFill>
                <a:latin typeface="맑은 고딕"/>
              </a:rPr>
              <a:t>'AI를 실제로 시도했는지'를 사용자에게 투명하게 표시</a:t>
            </a:r>
          </a:p>
          <a:p>
            <a:pPr>
              <a:lnSpc>
                <a:spcPct val="105000"/>
              </a:lnSpc>
              <a:spcAft>
                <a:spcPts val="1500"/>
              </a:spcAft>
            </a:pPr>
            <a:r>
              <a:rPr sz="2000" b="1">
                <a:solidFill>
                  <a:srgbClr val="B8731A"/>
                </a:solidFill>
                <a:latin typeface="맑은 고딕"/>
              </a:rPr>
              <a:t>●  </a:t>
            </a:r>
            <a:r>
              <a:rPr sz="2000">
                <a:solidFill>
                  <a:srgbClr val="2A2118"/>
                </a:solidFill>
                <a:latin typeface="맑은 고딕"/>
              </a:rPr>
              <a:t>파싱 로직은 화면/ViewModel과 분리된 별도 모듈</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6EE"/>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B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515600" cy="822960"/>
          </a:xfrm>
          <a:prstGeom prst="rect">
            <a:avLst/>
          </a:prstGeom>
          <a:noFill/>
        </p:spPr>
        <p:txBody>
          <a:bodyPr wrap="square" anchor="t">
            <a:spAutoFit/>
          </a:bodyPr>
          <a:lstStyle/>
          <a:p>
            <a:pPr algn="l">
              <a:lnSpc>
                <a:spcPct val="100000"/>
              </a:lnSpc>
            </a:pPr>
            <a:r>
              <a:rPr sz="3300" b="1" i="0">
                <a:solidFill>
                  <a:srgbClr val="B8731A"/>
                </a:solidFill>
                <a:latin typeface="맑은 고딕"/>
              </a:rPr>
              <a:t>데이터 설계</a:t>
            </a:r>
          </a:p>
        </p:txBody>
      </p:sp>
      <p:sp>
        <p:nvSpPr>
          <p:cNvPr id="4" name="TextBox 3"/>
          <p:cNvSpPr txBox="1"/>
          <p:nvPr/>
        </p:nvSpPr>
        <p:spPr>
          <a:xfrm>
            <a:off x="804672" y="1325880"/>
            <a:ext cx="10789920" cy="548640"/>
          </a:xfrm>
          <a:prstGeom prst="rect">
            <a:avLst/>
          </a:prstGeom>
          <a:noFill/>
        </p:spPr>
        <p:txBody>
          <a:bodyPr wrap="square" anchor="t">
            <a:spAutoFit/>
          </a:bodyPr>
          <a:lstStyle/>
          <a:p>
            <a:pPr algn="l">
              <a:lnSpc>
                <a:spcPct val="100000"/>
              </a:lnSpc>
            </a:pPr>
            <a:r>
              <a:rPr sz="1800" b="0" i="1">
                <a:solidFill>
                  <a:srgbClr val="7A6A57"/>
                </a:solidFill>
                <a:latin typeface="맑은 고딕"/>
              </a:rPr>
              <a:t>안정적인 로컬 우선 데이터베이스</a:t>
            </a:r>
          </a:p>
        </p:txBody>
      </p:sp>
      <p:sp>
        <p:nvSpPr>
          <p:cNvPr id="5" name="Rectangle 4"/>
          <p:cNvSpPr/>
          <p:nvPr/>
        </p:nvSpPr>
        <p:spPr>
          <a:xfrm>
            <a:off x="822960" y="1847088"/>
            <a:ext cx="3840480" cy="27432"/>
          </a:xfrm>
          <a:prstGeom prst="rect">
            <a:avLst/>
          </a:prstGeom>
          <a:solidFill>
            <a:srgbClr val="E0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6400800"/>
            <a:ext cx="6400800" cy="320040"/>
          </a:xfrm>
          <a:prstGeom prst="rect">
            <a:avLst/>
          </a:prstGeom>
          <a:noFill/>
        </p:spPr>
        <p:txBody>
          <a:bodyPr wrap="square" anchor="t">
            <a:spAutoFit/>
          </a:bodyPr>
          <a:lstStyle/>
          <a:p>
            <a:pPr algn="l">
              <a:lnSpc>
                <a:spcPct val="100000"/>
              </a:lnSpc>
            </a:pPr>
            <a:r>
              <a:rPr sz="1000" b="0" i="0">
                <a:solidFill>
                  <a:srgbClr val="7A6A57"/>
                </a:solidFill>
                <a:latin typeface="맑은 고딕"/>
              </a:rPr>
              <a:t>알비(Albi) · 모바일 앱 프로그래밍</a:t>
            </a:r>
          </a:p>
        </p:txBody>
      </p:sp>
      <p:sp>
        <p:nvSpPr>
          <p:cNvPr id="7" name="TextBox 6"/>
          <p:cNvSpPr txBox="1"/>
          <p:nvPr/>
        </p:nvSpPr>
        <p:spPr>
          <a:xfrm>
            <a:off x="11094415" y="6400800"/>
            <a:ext cx="548640" cy="320040"/>
          </a:xfrm>
          <a:prstGeom prst="rect">
            <a:avLst/>
          </a:prstGeom>
          <a:noFill/>
        </p:spPr>
        <p:txBody>
          <a:bodyPr wrap="square" anchor="t">
            <a:spAutoFit/>
          </a:bodyPr>
          <a:lstStyle/>
          <a:p>
            <a:pPr algn="r">
              <a:lnSpc>
                <a:spcPct val="100000"/>
              </a:lnSpc>
            </a:pPr>
            <a:r>
              <a:rPr sz="1100" b="1" i="0">
                <a:solidFill>
                  <a:srgbClr val="B8731A"/>
                </a:solidFill>
                <a:latin typeface="맑은 고딕"/>
              </a:rPr>
              <a:t>7</a:t>
            </a:r>
          </a:p>
        </p:txBody>
      </p:sp>
      <p:sp>
        <p:nvSpPr>
          <p:cNvPr id="8" name="Rounded Rectangle 7"/>
          <p:cNvSpPr/>
          <p:nvPr/>
        </p:nvSpPr>
        <p:spPr>
          <a:xfrm>
            <a:off x="7680960" y="2286000"/>
            <a:ext cx="3657600" cy="2743200"/>
          </a:xfrm>
          <a:prstGeom prst="roundRect">
            <a:avLst/>
          </a:prstGeom>
          <a:solidFill>
            <a:srgbClr val="F3E9D8"/>
          </a:solidFill>
          <a:ln w="19050">
            <a:solidFill>
              <a:srgbClr val="B873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0" y="2651760"/>
            <a:ext cx="3657600" cy="1371600"/>
          </a:xfrm>
          <a:prstGeom prst="rect">
            <a:avLst/>
          </a:prstGeom>
          <a:noFill/>
        </p:spPr>
        <p:txBody>
          <a:bodyPr wrap="square" anchor="t">
            <a:spAutoFit/>
          </a:bodyPr>
          <a:lstStyle/>
          <a:p>
            <a:pPr algn="ctr">
              <a:lnSpc>
                <a:spcPct val="100000"/>
              </a:lnSpc>
            </a:pPr>
            <a:r>
              <a:rPr sz="8000" b="1" i="0">
                <a:solidFill>
                  <a:srgbClr val="B8731A"/>
                </a:solidFill>
                <a:latin typeface="맑은 고딕"/>
              </a:rPr>
              <a:t>553</a:t>
            </a:r>
          </a:p>
        </p:txBody>
      </p:sp>
      <p:sp>
        <p:nvSpPr>
          <p:cNvPr id="10" name="TextBox 9"/>
          <p:cNvSpPr txBox="1"/>
          <p:nvPr/>
        </p:nvSpPr>
        <p:spPr>
          <a:xfrm>
            <a:off x="7680960" y="3977639"/>
            <a:ext cx="3657600" cy="914400"/>
          </a:xfrm>
          <a:prstGeom prst="rect">
            <a:avLst/>
          </a:prstGeom>
          <a:noFill/>
        </p:spPr>
        <p:txBody>
          <a:bodyPr wrap="square" anchor="t">
            <a:spAutoFit/>
          </a:bodyPr>
          <a:lstStyle/>
          <a:p>
            <a:pPr algn="ctr">
              <a:lnSpc>
                <a:spcPct val="110000"/>
              </a:lnSpc>
            </a:pPr>
            <a:r>
              <a:rPr sz="1600" b="0" i="0">
                <a:solidFill>
                  <a:srgbClr val="2A2118"/>
                </a:solidFill>
                <a:latin typeface="맑은 고딕"/>
              </a:rPr>
              <a:t>종 술 마스터 시드</a:t>
            </a:r>
          </a:p>
          <a:p>
            <a:pPr algn="ctr">
              <a:lnSpc>
                <a:spcPct val="110000"/>
              </a:lnSpc>
            </a:pPr>
            <a:r>
              <a:rPr sz="1600" b="0" i="0">
                <a:solidFill>
                  <a:srgbClr val="2A2118"/>
                </a:solidFill>
                <a:latin typeface="맑은 고딕"/>
              </a:rPr>
              <a:t>(한국 시장 브랜드 포함)</a:t>
            </a:r>
          </a:p>
        </p:txBody>
      </p:sp>
      <p:sp>
        <p:nvSpPr>
          <p:cNvPr id="11" name="TextBox 10"/>
          <p:cNvSpPr txBox="1"/>
          <p:nvPr/>
        </p:nvSpPr>
        <p:spPr>
          <a:xfrm>
            <a:off x="914400" y="2468880"/>
            <a:ext cx="6400800" cy="2926080"/>
          </a:xfrm>
          <a:prstGeom prst="rect">
            <a:avLst/>
          </a:prstGeom>
          <a:noFill/>
        </p:spPr>
        <p:txBody>
          <a:bodyPr wrap="square">
            <a:spAutoFit/>
          </a:bodyPr>
          <a:lstStyle/>
          <a:p>
            <a:pPr>
              <a:lnSpc>
                <a:spcPct val="105000"/>
              </a:lnSpc>
              <a:spcAft>
                <a:spcPts val="1800"/>
              </a:spcAft>
            </a:pPr>
            <a:r>
              <a:rPr sz="1900" b="1">
                <a:solidFill>
                  <a:srgbClr val="B8731A"/>
                </a:solidFill>
                <a:latin typeface="맑은 고딕"/>
              </a:rPr>
              <a:t>●  </a:t>
            </a:r>
            <a:r>
              <a:rPr sz="1900">
                <a:solidFill>
                  <a:srgbClr val="2A2118"/>
                </a:solidFill>
                <a:latin typeface="맑은 고딕"/>
              </a:rPr>
              <a:t>SQLite 8개 테이블 + 트랜잭션으로 원자성 보장</a:t>
            </a:r>
          </a:p>
          <a:p>
            <a:pPr>
              <a:lnSpc>
                <a:spcPct val="105000"/>
              </a:lnSpc>
              <a:spcAft>
                <a:spcPts val="1800"/>
              </a:spcAft>
            </a:pPr>
            <a:r>
              <a:rPr sz="1900" b="1">
                <a:solidFill>
                  <a:srgbClr val="B8731A"/>
                </a:solidFill>
                <a:latin typeface="맑은 고딕"/>
              </a:rPr>
              <a:t>●  </a:t>
            </a:r>
            <a:r>
              <a:rPr sz="1900">
                <a:solidFill>
                  <a:srgbClr val="2A2118"/>
                </a:solidFill>
                <a:latin typeface="맑은 고딕"/>
              </a:rPr>
              <a:t>음식 사전 36종 · 장소 키워드 사전</a:t>
            </a:r>
          </a:p>
          <a:p>
            <a:pPr>
              <a:lnSpc>
                <a:spcPct val="105000"/>
              </a:lnSpc>
              <a:spcAft>
                <a:spcPts val="1800"/>
              </a:spcAft>
            </a:pPr>
            <a:r>
              <a:rPr sz="1900" b="1">
                <a:solidFill>
                  <a:srgbClr val="B8731A"/>
                </a:solidFill>
                <a:latin typeface="맑은 고딕"/>
              </a:rPr>
              <a:t>●  </a:t>
            </a:r>
            <a:r>
              <a:rPr sz="1900">
                <a:solidFill>
                  <a:srgbClr val="2A2118"/>
                </a:solidFill>
                <a:latin typeface="맑은 고딕"/>
              </a:rPr>
              <a:t>수정 시 기록 ID 보존 — 연결 데이터(테이스팅 노트) 유실 방지</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6EE"/>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B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515600" cy="822960"/>
          </a:xfrm>
          <a:prstGeom prst="rect">
            <a:avLst/>
          </a:prstGeom>
          <a:noFill/>
        </p:spPr>
        <p:txBody>
          <a:bodyPr wrap="square" anchor="t">
            <a:spAutoFit/>
          </a:bodyPr>
          <a:lstStyle/>
          <a:p>
            <a:pPr algn="l">
              <a:lnSpc>
                <a:spcPct val="100000"/>
              </a:lnSpc>
            </a:pPr>
            <a:r>
              <a:rPr sz="3300" b="1" i="0">
                <a:solidFill>
                  <a:srgbClr val="B8731A"/>
                </a:solidFill>
                <a:latin typeface="맑은 고딕"/>
              </a:rPr>
              <a:t>주요 화면 둘러보기</a:t>
            </a:r>
          </a:p>
        </p:txBody>
      </p:sp>
      <p:sp>
        <p:nvSpPr>
          <p:cNvPr id="4" name="TextBox 3"/>
          <p:cNvSpPr txBox="1"/>
          <p:nvPr/>
        </p:nvSpPr>
        <p:spPr>
          <a:xfrm>
            <a:off x="804672" y="1325880"/>
            <a:ext cx="10789920" cy="548640"/>
          </a:xfrm>
          <a:prstGeom prst="rect">
            <a:avLst/>
          </a:prstGeom>
          <a:noFill/>
        </p:spPr>
        <p:txBody>
          <a:bodyPr wrap="square" anchor="t">
            <a:spAutoFit/>
          </a:bodyPr>
          <a:lstStyle/>
          <a:p>
            <a:pPr algn="l">
              <a:lnSpc>
                <a:spcPct val="100000"/>
              </a:lnSpc>
            </a:pPr>
            <a:r>
              <a:rPr sz="1800" b="0" i="1">
                <a:solidFill>
                  <a:srgbClr val="7A6A57"/>
                </a:solidFill>
                <a:latin typeface="맑은 고딕"/>
              </a:rPr>
              <a:t>기록부터 회고까지</a:t>
            </a:r>
          </a:p>
        </p:txBody>
      </p:sp>
      <p:sp>
        <p:nvSpPr>
          <p:cNvPr id="5" name="Rectangle 4"/>
          <p:cNvSpPr/>
          <p:nvPr/>
        </p:nvSpPr>
        <p:spPr>
          <a:xfrm>
            <a:off x="822960" y="1847088"/>
            <a:ext cx="3840480" cy="27432"/>
          </a:xfrm>
          <a:prstGeom prst="rect">
            <a:avLst/>
          </a:prstGeom>
          <a:solidFill>
            <a:srgbClr val="E0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6400800"/>
            <a:ext cx="6400800" cy="320040"/>
          </a:xfrm>
          <a:prstGeom prst="rect">
            <a:avLst/>
          </a:prstGeom>
          <a:noFill/>
        </p:spPr>
        <p:txBody>
          <a:bodyPr wrap="square" anchor="t">
            <a:spAutoFit/>
          </a:bodyPr>
          <a:lstStyle/>
          <a:p>
            <a:pPr algn="l">
              <a:lnSpc>
                <a:spcPct val="100000"/>
              </a:lnSpc>
            </a:pPr>
            <a:r>
              <a:rPr sz="1000" b="0" i="0">
                <a:solidFill>
                  <a:srgbClr val="7A6A57"/>
                </a:solidFill>
                <a:latin typeface="맑은 고딕"/>
              </a:rPr>
              <a:t>알비(Albi) · 모바일 앱 프로그래밍</a:t>
            </a:r>
          </a:p>
        </p:txBody>
      </p:sp>
      <p:sp>
        <p:nvSpPr>
          <p:cNvPr id="7" name="TextBox 6"/>
          <p:cNvSpPr txBox="1"/>
          <p:nvPr/>
        </p:nvSpPr>
        <p:spPr>
          <a:xfrm>
            <a:off x="11094415" y="6400800"/>
            <a:ext cx="548640" cy="320040"/>
          </a:xfrm>
          <a:prstGeom prst="rect">
            <a:avLst/>
          </a:prstGeom>
          <a:noFill/>
        </p:spPr>
        <p:txBody>
          <a:bodyPr wrap="square" anchor="t">
            <a:spAutoFit/>
          </a:bodyPr>
          <a:lstStyle/>
          <a:p>
            <a:pPr algn="r">
              <a:lnSpc>
                <a:spcPct val="100000"/>
              </a:lnSpc>
            </a:pPr>
            <a:r>
              <a:rPr sz="1100" b="1" i="0">
                <a:solidFill>
                  <a:srgbClr val="B8731A"/>
                </a:solidFill>
                <a:latin typeface="맑은 고딕"/>
              </a:rPr>
              <a:t>8</a:t>
            </a:r>
          </a:p>
        </p:txBody>
      </p:sp>
      <p:sp>
        <p:nvSpPr>
          <p:cNvPr id="8" name="Rounded Rectangle 7"/>
          <p:cNvSpPr/>
          <p:nvPr/>
        </p:nvSpPr>
        <p:spPr>
          <a:xfrm>
            <a:off x="960120" y="2331720"/>
            <a:ext cx="3291840" cy="1417320"/>
          </a:xfrm>
          <a:prstGeom prst="roundRect">
            <a:avLst/>
          </a:prstGeom>
          <a:solidFill>
            <a:srgbClr val="F3E9D8"/>
          </a:solidFill>
          <a:ln w="15240">
            <a:solidFill>
              <a:srgbClr val="E0A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587752"/>
            <a:ext cx="3291840" cy="457200"/>
          </a:xfrm>
          <a:prstGeom prst="rect">
            <a:avLst/>
          </a:prstGeom>
          <a:noFill/>
        </p:spPr>
        <p:txBody>
          <a:bodyPr wrap="square" anchor="t">
            <a:spAutoFit/>
          </a:bodyPr>
          <a:lstStyle/>
          <a:p>
            <a:pPr algn="ctr">
              <a:lnSpc>
                <a:spcPct val="100000"/>
              </a:lnSpc>
            </a:pPr>
            <a:r>
              <a:rPr sz="1300" b="0" i="0">
                <a:solidFill>
                  <a:srgbClr val="7A6A57"/>
                </a:solidFill>
                <a:latin typeface="맑은 고딕"/>
              </a:rPr>
              <a:t>[ 스크린샷 ]</a:t>
            </a:r>
          </a:p>
        </p:txBody>
      </p:sp>
      <p:sp>
        <p:nvSpPr>
          <p:cNvPr id="10" name="TextBox 9"/>
          <p:cNvSpPr txBox="1"/>
          <p:nvPr/>
        </p:nvSpPr>
        <p:spPr>
          <a:xfrm>
            <a:off x="960120" y="3081527"/>
            <a:ext cx="3291840" cy="457200"/>
          </a:xfrm>
          <a:prstGeom prst="rect">
            <a:avLst/>
          </a:prstGeom>
          <a:noFill/>
        </p:spPr>
        <p:txBody>
          <a:bodyPr wrap="square" anchor="t">
            <a:spAutoFit/>
          </a:bodyPr>
          <a:lstStyle/>
          <a:p>
            <a:pPr algn="ctr">
              <a:lnSpc>
                <a:spcPct val="100000"/>
              </a:lnSpc>
            </a:pPr>
            <a:r>
              <a:rPr sz="1700" b="1" i="0">
                <a:solidFill>
                  <a:srgbClr val="B8731A"/>
                </a:solidFill>
                <a:latin typeface="맑은 고딕"/>
              </a:rPr>
              <a:t>홈 (입력)</a:t>
            </a:r>
          </a:p>
        </p:txBody>
      </p:sp>
      <p:sp>
        <p:nvSpPr>
          <p:cNvPr id="11" name="Rounded Rectangle 10"/>
          <p:cNvSpPr/>
          <p:nvPr/>
        </p:nvSpPr>
        <p:spPr>
          <a:xfrm>
            <a:off x="4572000" y="2331720"/>
            <a:ext cx="3291840" cy="1417320"/>
          </a:xfrm>
          <a:prstGeom prst="roundRect">
            <a:avLst/>
          </a:prstGeom>
          <a:solidFill>
            <a:srgbClr val="F3E9D8"/>
          </a:solidFill>
          <a:ln w="15240">
            <a:solidFill>
              <a:srgbClr val="E0A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2587752"/>
            <a:ext cx="3291840" cy="457200"/>
          </a:xfrm>
          <a:prstGeom prst="rect">
            <a:avLst/>
          </a:prstGeom>
          <a:noFill/>
        </p:spPr>
        <p:txBody>
          <a:bodyPr wrap="square" anchor="t">
            <a:spAutoFit/>
          </a:bodyPr>
          <a:lstStyle/>
          <a:p>
            <a:pPr algn="ctr">
              <a:lnSpc>
                <a:spcPct val="100000"/>
              </a:lnSpc>
            </a:pPr>
            <a:r>
              <a:rPr sz="1300" b="0" i="0">
                <a:solidFill>
                  <a:srgbClr val="7A6A57"/>
                </a:solidFill>
                <a:latin typeface="맑은 고딕"/>
              </a:rPr>
              <a:t>[ 스크린샷 ]</a:t>
            </a:r>
          </a:p>
        </p:txBody>
      </p:sp>
      <p:sp>
        <p:nvSpPr>
          <p:cNvPr id="13" name="TextBox 12"/>
          <p:cNvSpPr txBox="1"/>
          <p:nvPr/>
        </p:nvSpPr>
        <p:spPr>
          <a:xfrm>
            <a:off x="4572000" y="3081527"/>
            <a:ext cx="3291840" cy="457200"/>
          </a:xfrm>
          <a:prstGeom prst="rect">
            <a:avLst/>
          </a:prstGeom>
          <a:noFill/>
        </p:spPr>
        <p:txBody>
          <a:bodyPr wrap="square" anchor="t">
            <a:spAutoFit/>
          </a:bodyPr>
          <a:lstStyle/>
          <a:p>
            <a:pPr algn="ctr">
              <a:lnSpc>
                <a:spcPct val="100000"/>
              </a:lnSpc>
            </a:pPr>
            <a:r>
              <a:rPr sz="1700" b="1" i="0">
                <a:solidFill>
                  <a:srgbClr val="B8731A"/>
                </a:solidFill>
                <a:latin typeface="맑은 고딕"/>
              </a:rPr>
              <a:t>검토 · 수정</a:t>
            </a:r>
          </a:p>
        </p:txBody>
      </p:sp>
      <p:sp>
        <p:nvSpPr>
          <p:cNvPr id="14" name="Rounded Rectangle 13"/>
          <p:cNvSpPr/>
          <p:nvPr/>
        </p:nvSpPr>
        <p:spPr>
          <a:xfrm>
            <a:off x="8183880" y="2331720"/>
            <a:ext cx="3291840" cy="1417320"/>
          </a:xfrm>
          <a:prstGeom prst="roundRect">
            <a:avLst/>
          </a:prstGeom>
          <a:solidFill>
            <a:srgbClr val="F3E9D8"/>
          </a:solidFill>
          <a:ln w="15240">
            <a:solidFill>
              <a:srgbClr val="E0A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83880" y="2587752"/>
            <a:ext cx="3291840" cy="457200"/>
          </a:xfrm>
          <a:prstGeom prst="rect">
            <a:avLst/>
          </a:prstGeom>
          <a:noFill/>
        </p:spPr>
        <p:txBody>
          <a:bodyPr wrap="square" anchor="t">
            <a:spAutoFit/>
          </a:bodyPr>
          <a:lstStyle/>
          <a:p>
            <a:pPr algn="ctr">
              <a:lnSpc>
                <a:spcPct val="100000"/>
              </a:lnSpc>
            </a:pPr>
            <a:r>
              <a:rPr sz="1300" b="0" i="0">
                <a:solidFill>
                  <a:srgbClr val="7A6A57"/>
                </a:solidFill>
                <a:latin typeface="맑은 고딕"/>
              </a:rPr>
              <a:t>[ 스크린샷 ]</a:t>
            </a:r>
          </a:p>
        </p:txBody>
      </p:sp>
      <p:sp>
        <p:nvSpPr>
          <p:cNvPr id="16" name="TextBox 15"/>
          <p:cNvSpPr txBox="1"/>
          <p:nvPr/>
        </p:nvSpPr>
        <p:spPr>
          <a:xfrm>
            <a:off x="8183880" y="3081527"/>
            <a:ext cx="3291840" cy="457200"/>
          </a:xfrm>
          <a:prstGeom prst="rect">
            <a:avLst/>
          </a:prstGeom>
          <a:noFill/>
        </p:spPr>
        <p:txBody>
          <a:bodyPr wrap="square" anchor="t">
            <a:spAutoFit/>
          </a:bodyPr>
          <a:lstStyle/>
          <a:p>
            <a:pPr algn="ctr">
              <a:lnSpc>
                <a:spcPct val="100000"/>
              </a:lnSpc>
            </a:pPr>
            <a:r>
              <a:rPr sz="1700" b="1" i="0">
                <a:solidFill>
                  <a:srgbClr val="B8731A"/>
                </a:solidFill>
                <a:latin typeface="맑은 고딕"/>
              </a:rPr>
              <a:t>기록 목록</a:t>
            </a:r>
          </a:p>
        </p:txBody>
      </p:sp>
      <p:sp>
        <p:nvSpPr>
          <p:cNvPr id="17" name="Rounded Rectangle 16"/>
          <p:cNvSpPr/>
          <p:nvPr/>
        </p:nvSpPr>
        <p:spPr>
          <a:xfrm>
            <a:off x="960120" y="4069079"/>
            <a:ext cx="3291840" cy="1417320"/>
          </a:xfrm>
          <a:prstGeom prst="roundRect">
            <a:avLst/>
          </a:prstGeom>
          <a:solidFill>
            <a:srgbClr val="F3E9D8"/>
          </a:solidFill>
          <a:ln w="15240">
            <a:solidFill>
              <a:srgbClr val="E0A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325112"/>
            <a:ext cx="3291840" cy="457200"/>
          </a:xfrm>
          <a:prstGeom prst="rect">
            <a:avLst/>
          </a:prstGeom>
          <a:noFill/>
        </p:spPr>
        <p:txBody>
          <a:bodyPr wrap="square" anchor="t">
            <a:spAutoFit/>
          </a:bodyPr>
          <a:lstStyle/>
          <a:p>
            <a:pPr algn="ctr">
              <a:lnSpc>
                <a:spcPct val="100000"/>
              </a:lnSpc>
            </a:pPr>
            <a:r>
              <a:rPr sz="1300" b="0" i="0">
                <a:solidFill>
                  <a:srgbClr val="7A6A57"/>
                </a:solidFill>
                <a:latin typeface="맑은 고딕"/>
              </a:rPr>
              <a:t>[ 스크린샷 ]</a:t>
            </a:r>
          </a:p>
        </p:txBody>
      </p:sp>
      <p:sp>
        <p:nvSpPr>
          <p:cNvPr id="19" name="TextBox 18"/>
          <p:cNvSpPr txBox="1"/>
          <p:nvPr/>
        </p:nvSpPr>
        <p:spPr>
          <a:xfrm>
            <a:off x="960120" y="4818888"/>
            <a:ext cx="3291840" cy="457200"/>
          </a:xfrm>
          <a:prstGeom prst="rect">
            <a:avLst/>
          </a:prstGeom>
          <a:noFill/>
        </p:spPr>
        <p:txBody>
          <a:bodyPr wrap="square" anchor="t">
            <a:spAutoFit/>
          </a:bodyPr>
          <a:lstStyle/>
          <a:p>
            <a:pPr algn="ctr">
              <a:lnSpc>
                <a:spcPct val="100000"/>
              </a:lnSpc>
            </a:pPr>
            <a:r>
              <a:rPr sz="1700" b="1" i="0">
                <a:solidFill>
                  <a:srgbClr val="B8731A"/>
                </a:solidFill>
                <a:latin typeface="맑은 고딕"/>
              </a:rPr>
              <a:t>캘린더</a:t>
            </a:r>
          </a:p>
        </p:txBody>
      </p:sp>
      <p:sp>
        <p:nvSpPr>
          <p:cNvPr id="20" name="Rounded Rectangle 19"/>
          <p:cNvSpPr/>
          <p:nvPr/>
        </p:nvSpPr>
        <p:spPr>
          <a:xfrm>
            <a:off x="4572000" y="4069079"/>
            <a:ext cx="3291840" cy="1417320"/>
          </a:xfrm>
          <a:prstGeom prst="roundRect">
            <a:avLst/>
          </a:prstGeom>
          <a:solidFill>
            <a:srgbClr val="F3E9D8"/>
          </a:solidFill>
          <a:ln w="15240">
            <a:solidFill>
              <a:srgbClr val="E0A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0" y="4325112"/>
            <a:ext cx="3291840" cy="457200"/>
          </a:xfrm>
          <a:prstGeom prst="rect">
            <a:avLst/>
          </a:prstGeom>
          <a:noFill/>
        </p:spPr>
        <p:txBody>
          <a:bodyPr wrap="square" anchor="t">
            <a:spAutoFit/>
          </a:bodyPr>
          <a:lstStyle/>
          <a:p>
            <a:pPr algn="ctr">
              <a:lnSpc>
                <a:spcPct val="100000"/>
              </a:lnSpc>
            </a:pPr>
            <a:r>
              <a:rPr sz="1300" b="0" i="0">
                <a:solidFill>
                  <a:srgbClr val="7A6A57"/>
                </a:solidFill>
                <a:latin typeface="맑은 고딕"/>
              </a:rPr>
              <a:t>[ 스크린샷 ]</a:t>
            </a:r>
          </a:p>
        </p:txBody>
      </p:sp>
      <p:sp>
        <p:nvSpPr>
          <p:cNvPr id="22" name="TextBox 21"/>
          <p:cNvSpPr txBox="1"/>
          <p:nvPr/>
        </p:nvSpPr>
        <p:spPr>
          <a:xfrm>
            <a:off x="4572000" y="4818888"/>
            <a:ext cx="3291840" cy="457200"/>
          </a:xfrm>
          <a:prstGeom prst="rect">
            <a:avLst/>
          </a:prstGeom>
          <a:noFill/>
        </p:spPr>
        <p:txBody>
          <a:bodyPr wrap="square" anchor="t">
            <a:spAutoFit/>
          </a:bodyPr>
          <a:lstStyle/>
          <a:p>
            <a:pPr algn="ctr">
              <a:lnSpc>
                <a:spcPct val="100000"/>
              </a:lnSpc>
            </a:pPr>
            <a:r>
              <a:rPr sz="1700" b="1" i="0">
                <a:solidFill>
                  <a:srgbClr val="B8731A"/>
                </a:solidFill>
                <a:latin typeface="맑은 고딕"/>
              </a:rPr>
              <a:t>아카이브 (술별)</a:t>
            </a:r>
          </a:p>
        </p:txBody>
      </p:sp>
      <p:sp>
        <p:nvSpPr>
          <p:cNvPr id="23" name="Rounded Rectangle 22"/>
          <p:cNvSpPr/>
          <p:nvPr/>
        </p:nvSpPr>
        <p:spPr>
          <a:xfrm>
            <a:off x="8183880" y="4069079"/>
            <a:ext cx="3291840" cy="1417320"/>
          </a:xfrm>
          <a:prstGeom prst="roundRect">
            <a:avLst/>
          </a:prstGeom>
          <a:solidFill>
            <a:srgbClr val="F3E9D8"/>
          </a:solidFill>
          <a:ln w="15240">
            <a:solidFill>
              <a:srgbClr val="E0A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83880" y="4325112"/>
            <a:ext cx="3291840" cy="457200"/>
          </a:xfrm>
          <a:prstGeom prst="rect">
            <a:avLst/>
          </a:prstGeom>
          <a:noFill/>
        </p:spPr>
        <p:txBody>
          <a:bodyPr wrap="square" anchor="t">
            <a:spAutoFit/>
          </a:bodyPr>
          <a:lstStyle/>
          <a:p>
            <a:pPr algn="ctr">
              <a:lnSpc>
                <a:spcPct val="100000"/>
              </a:lnSpc>
            </a:pPr>
            <a:r>
              <a:rPr sz="1300" b="0" i="0">
                <a:solidFill>
                  <a:srgbClr val="7A6A57"/>
                </a:solidFill>
                <a:latin typeface="맑은 고딕"/>
              </a:rPr>
              <a:t>[ 스크린샷 ]</a:t>
            </a:r>
          </a:p>
        </p:txBody>
      </p:sp>
      <p:sp>
        <p:nvSpPr>
          <p:cNvPr id="25" name="TextBox 24"/>
          <p:cNvSpPr txBox="1"/>
          <p:nvPr/>
        </p:nvSpPr>
        <p:spPr>
          <a:xfrm>
            <a:off x="8183880" y="4818888"/>
            <a:ext cx="3291840" cy="457200"/>
          </a:xfrm>
          <a:prstGeom prst="rect">
            <a:avLst/>
          </a:prstGeom>
          <a:noFill/>
        </p:spPr>
        <p:txBody>
          <a:bodyPr wrap="square" anchor="t">
            <a:spAutoFit/>
          </a:bodyPr>
          <a:lstStyle/>
          <a:p>
            <a:pPr algn="ctr">
              <a:lnSpc>
                <a:spcPct val="100000"/>
              </a:lnSpc>
            </a:pPr>
            <a:r>
              <a:rPr sz="1700" b="1" i="0">
                <a:solidFill>
                  <a:srgbClr val="B8731A"/>
                </a:solidFill>
                <a:latin typeface="맑은 고딕"/>
              </a:rPr>
              <a:t>통계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6EE"/>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B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515600" cy="822960"/>
          </a:xfrm>
          <a:prstGeom prst="rect">
            <a:avLst/>
          </a:prstGeom>
          <a:noFill/>
        </p:spPr>
        <p:txBody>
          <a:bodyPr wrap="square" anchor="t">
            <a:spAutoFit/>
          </a:bodyPr>
          <a:lstStyle/>
          <a:p>
            <a:pPr algn="l">
              <a:lnSpc>
                <a:spcPct val="100000"/>
              </a:lnSpc>
            </a:pPr>
            <a:r>
              <a:rPr sz="3300" b="1" i="0">
                <a:solidFill>
                  <a:srgbClr val="B8731A"/>
                </a:solidFill>
                <a:latin typeface="맑은 고딕"/>
              </a:rPr>
              <a:t>건강 인사이트 &amp; 리마인더</a:t>
            </a:r>
          </a:p>
        </p:txBody>
      </p:sp>
      <p:sp>
        <p:nvSpPr>
          <p:cNvPr id="4" name="TextBox 3"/>
          <p:cNvSpPr txBox="1"/>
          <p:nvPr/>
        </p:nvSpPr>
        <p:spPr>
          <a:xfrm>
            <a:off x="804672" y="1325880"/>
            <a:ext cx="10789920" cy="548640"/>
          </a:xfrm>
          <a:prstGeom prst="rect">
            <a:avLst/>
          </a:prstGeom>
          <a:noFill/>
        </p:spPr>
        <p:txBody>
          <a:bodyPr wrap="square" anchor="t">
            <a:spAutoFit/>
          </a:bodyPr>
          <a:lstStyle/>
          <a:p>
            <a:pPr algn="l">
              <a:lnSpc>
                <a:spcPct val="100000"/>
              </a:lnSpc>
            </a:pPr>
            <a:r>
              <a:rPr sz="1800" b="0" i="1">
                <a:solidFill>
                  <a:srgbClr val="7A6A57"/>
                </a:solidFill>
                <a:latin typeface="맑은 고딕"/>
              </a:rPr>
              <a:t>단순 기록을 넘어 행동으로</a:t>
            </a:r>
          </a:p>
        </p:txBody>
      </p:sp>
      <p:sp>
        <p:nvSpPr>
          <p:cNvPr id="5" name="Rectangle 4"/>
          <p:cNvSpPr/>
          <p:nvPr/>
        </p:nvSpPr>
        <p:spPr>
          <a:xfrm>
            <a:off x="822960" y="1847088"/>
            <a:ext cx="3840480" cy="27432"/>
          </a:xfrm>
          <a:prstGeom prst="rect">
            <a:avLst/>
          </a:prstGeom>
          <a:solidFill>
            <a:srgbClr val="E0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6400800"/>
            <a:ext cx="6400800" cy="320040"/>
          </a:xfrm>
          <a:prstGeom prst="rect">
            <a:avLst/>
          </a:prstGeom>
          <a:noFill/>
        </p:spPr>
        <p:txBody>
          <a:bodyPr wrap="square" anchor="t">
            <a:spAutoFit/>
          </a:bodyPr>
          <a:lstStyle/>
          <a:p>
            <a:pPr algn="l">
              <a:lnSpc>
                <a:spcPct val="100000"/>
              </a:lnSpc>
            </a:pPr>
            <a:r>
              <a:rPr sz="1000" b="0" i="0">
                <a:solidFill>
                  <a:srgbClr val="7A6A57"/>
                </a:solidFill>
                <a:latin typeface="맑은 고딕"/>
              </a:rPr>
              <a:t>알비(Albi) · 모바일 앱 프로그래밍</a:t>
            </a:r>
          </a:p>
        </p:txBody>
      </p:sp>
      <p:sp>
        <p:nvSpPr>
          <p:cNvPr id="7" name="TextBox 6"/>
          <p:cNvSpPr txBox="1"/>
          <p:nvPr/>
        </p:nvSpPr>
        <p:spPr>
          <a:xfrm>
            <a:off x="11094415" y="6400800"/>
            <a:ext cx="548640" cy="320040"/>
          </a:xfrm>
          <a:prstGeom prst="rect">
            <a:avLst/>
          </a:prstGeom>
          <a:noFill/>
        </p:spPr>
        <p:txBody>
          <a:bodyPr wrap="square" anchor="t">
            <a:spAutoFit/>
          </a:bodyPr>
          <a:lstStyle/>
          <a:p>
            <a:pPr algn="r">
              <a:lnSpc>
                <a:spcPct val="100000"/>
              </a:lnSpc>
            </a:pPr>
            <a:r>
              <a:rPr sz="1100" b="1" i="0">
                <a:solidFill>
                  <a:srgbClr val="B8731A"/>
                </a:solidFill>
                <a:latin typeface="맑은 고딕"/>
              </a:rPr>
              <a:t>9</a:t>
            </a:r>
          </a:p>
        </p:txBody>
      </p:sp>
      <p:sp>
        <p:nvSpPr>
          <p:cNvPr id="8" name="TextBox 7"/>
          <p:cNvSpPr txBox="1"/>
          <p:nvPr/>
        </p:nvSpPr>
        <p:spPr>
          <a:xfrm>
            <a:off x="914400" y="2377440"/>
            <a:ext cx="10424160" cy="3108960"/>
          </a:xfrm>
          <a:prstGeom prst="rect">
            <a:avLst/>
          </a:prstGeom>
          <a:noFill/>
        </p:spPr>
        <p:txBody>
          <a:bodyPr wrap="square">
            <a:spAutoFit/>
          </a:bodyPr>
          <a:lstStyle/>
          <a:p>
            <a:pPr>
              <a:lnSpc>
                <a:spcPct val="105000"/>
              </a:lnSpc>
              <a:spcAft>
                <a:spcPts val="1500"/>
              </a:spcAft>
            </a:pPr>
            <a:r>
              <a:rPr sz="2000" b="1">
                <a:solidFill>
                  <a:srgbClr val="B8731A"/>
                </a:solidFill>
                <a:latin typeface="맑은 고딕"/>
              </a:rPr>
              <a:t>●  </a:t>
            </a:r>
            <a:r>
              <a:rPr sz="2000">
                <a:solidFill>
                  <a:srgbClr val="2A2118"/>
                </a:solidFill>
                <a:latin typeface="맑은 고딕"/>
              </a:rPr>
              <a:t>표준잔 계산 (한국 기준 1잔 = 순알코올 8g)으로 과음 신호 감지</a:t>
            </a:r>
          </a:p>
          <a:p>
            <a:pPr>
              <a:lnSpc>
                <a:spcPct val="105000"/>
              </a:lnSpc>
              <a:spcAft>
                <a:spcPts val="1500"/>
              </a:spcAft>
            </a:pPr>
            <a:r>
              <a:rPr sz="2000" b="1">
                <a:solidFill>
                  <a:srgbClr val="B8731A"/>
                </a:solidFill>
                <a:latin typeface="맑은 고딕"/>
              </a:rPr>
              <a:t>●  </a:t>
            </a:r>
            <a:r>
              <a:rPr sz="2000">
                <a:solidFill>
                  <a:srgbClr val="2A2118"/>
                </a:solidFill>
                <a:latin typeface="맑은 고딕"/>
              </a:rPr>
              <a:t>카테고리별 통계 차트로 음주 패턴 시각화</a:t>
            </a:r>
          </a:p>
          <a:p>
            <a:pPr>
              <a:lnSpc>
                <a:spcPct val="105000"/>
              </a:lnSpc>
              <a:spcAft>
                <a:spcPts val="1500"/>
              </a:spcAft>
            </a:pPr>
            <a:r>
              <a:rPr sz="2000" b="1">
                <a:solidFill>
                  <a:srgbClr val="B8731A"/>
                </a:solidFill>
                <a:latin typeface="맑은 고딕"/>
              </a:rPr>
              <a:t>●  </a:t>
            </a:r>
            <a:r>
              <a:rPr sz="2000">
                <a:solidFill>
                  <a:srgbClr val="2A2118"/>
                </a:solidFill>
                <a:latin typeface="맑은 고딕"/>
              </a:rPr>
              <a:t>로컬 알림 4종 — 주간 요약 · 3일 미기록 리마인드 ·</a:t>
            </a:r>
          </a:p>
          <a:p>
            <a:pPr>
              <a:lnSpc>
                <a:spcPct val="105000"/>
              </a:lnSpc>
              <a:spcAft>
                <a:spcPts val="1500"/>
              </a:spcAft>
            </a:pPr>
            <a:r>
              <a:rPr sz="2000" b="1">
                <a:solidFill>
                  <a:srgbClr val="B8731A"/>
                </a:solidFill>
                <a:latin typeface="맑은 고딕"/>
              </a:rPr>
              <a:t>●  </a:t>
            </a:r>
            <a:r>
              <a:rPr sz="2000">
                <a:solidFill>
                  <a:srgbClr val="2A2118"/>
                </a:solidFill>
                <a:latin typeface="맑은 고딕"/>
              </a:rPr>
              <a:t>    새벽 음주 다음날 입력 · 주간 과음 경고</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6EE"/>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B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515600" cy="822960"/>
          </a:xfrm>
          <a:prstGeom prst="rect">
            <a:avLst/>
          </a:prstGeom>
          <a:noFill/>
        </p:spPr>
        <p:txBody>
          <a:bodyPr wrap="square" anchor="t">
            <a:spAutoFit/>
          </a:bodyPr>
          <a:lstStyle/>
          <a:p>
            <a:pPr algn="l">
              <a:lnSpc>
                <a:spcPct val="100000"/>
              </a:lnSpc>
            </a:pPr>
            <a:r>
              <a:rPr sz="3300" b="1" i="0">
                <a:solidFill>
                  <a:srgbClr val="B8731A"/>
                </a:solidFill>
                <a:latin typeface="맑은 고딕"/>
              </a:rPr>
              <a:t>기술적 도전과 해결</a:t>
            </a:r>
          </a:p>
        </p:txBody>
      </p:sp>
      <p:sp>
        <p:nvSpPr>
          <p:cNvPr id="4" name="TextBox 3"/>
          <p:cNvSpPr txBox="1"/>
          <p:nvPr/>
        </p:nvSpPr>
        <p:spPr>
          <a:xfrm>
            <a:off x="804672" y="1325880"/>
            <a:ext cx="10789920" cy="548640"/>
          </a:xfrm>
          <a:prstGeom prst="rect">
            <a:avLst/>
          </a:prstGeom>
          <a:noFill/>
        </p:spPr>
        <p:txBody>
          <a:bodyPr wrap="square" anchor="t">
            <a:spAutoFit/>
          </a:bodyPr>
          <a:lstStyle/>
          <a:p>
            <a:pPr algn="l">
              <a:lnSpc>
                <a:spcPct val="100000"/>
              </a:lnSpc>
            </a:pPr>
            <a:r>
              <a:rPr sz="1800" b="0" i="1">
                <a:solidFill>
                  <a:srgbClr val="7A6A57"/>
                </a:solidFill>
                <a:latin typeface="맑은 고딕"/>
              </a:rPr>
              <a:t>정상보다 비정상을 먼저 설계했다 — failure-path first</a:t>
            </a:r>
          </a:p>
        </p:txBody>
      </p:sp>
      <p:sp>
        <p:nvSpPr>
          <p:cNvPr id="5" name="Rectangle 4"/>
          <p:cNvSpPr/>
          <p:nvPr/>
        </p:nvSpPr>
        <p:spPr>
          <a:xfrm>
            <a:off x="822960" y="1847088"/>
            <a:ext cx="3840480" cy="27432"/>
          </a:xfrm>
          <a:prstGeom prst="rect">
            <a:avLst/>
          </a:prstGeom>
          <a:solidFill>
            <a:srgbClr val="E0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6400800"/>
            <a:ext cx="6400800" cy="320040"/>
          </a:xfrm>
          <a:prstGeom prst="rect">
            <a:avLst/>
          </a:prstGeom>
          <a:noFill/>
        </p:spPr>
        <p:txBody>
          <a:bodyPr wrap="square" anchor="t">
            <a:spAutoFit/>
          </a:bodyPr>
          <a:lstStyle/>
          <a:p>
            <a:pPr algn="l">
              <a:lnSpc>
                <a:spcPct val="100000"/>
              </a:lnSpc>
            </a:pPr>
            <a:r>
              <a:rPr sz="1000" b="0" i="0">
                <a:solidFill>
                  <a:srgbClr val="7A6A57"/>
                </a:solidFill>
                <a:latin typeface="맑은 고딕"/>
              </a:rPr>
              <a:t>알비(Albi) · 모바일 앱 프로그래밍</a:t>
            </a:r>
          </a:p>
        </p:txBody>
      </p:sp>
      <p:sp>
        <p:nvSpPr>
          <p:cNvPr id="7" name="TextBox 6"/>
          <p:cNvSpPr txBox="1"/>
          <p:nvPr/>
        </p:nvSpPr>
        <p:spPr>
          <a:xfrm>
            <a:off x="11094415" y="6400800"/>
            <a:ext cx="548640" cy="320040"/>
          </a:xfrm>
          <a:prstGeom prst="rect">
            <a:avLst/>
          </a:prstGeom>
          <a:noFill/>
        </p:spPr>
        <p:txBody>
          <a:bodyPr wrap="square" anchor="t">
            <a:spAutoFit/>
          </a:bodyPr>
          <a:lstStyle/>
          <a:p>
            <a:pPr algn="r">
              <a:lnSpc>
                <a:spcPct val="100000"/>
              </a:lnSpc>
            </a:pPr>
            <a:r>
              <a:rPr sz="1100" b="1" i="0">
                <a:solidFill>
                  <a:srgbClr val="B8731A"/>
                </a:solidFill>
                <a:latin typeface="맑은 고딕"/>
              </a:rPr>
              <a:t>10</a:t>
            </a:r>
          </a:p>
        </p:txBody>
      </p:sp>
      <p:sp>
        <p:nvSpPr>
          <p:cNvPr id="8" name="TextBox 7"/>
          <p:cNvSpPr txBox="1"/>
          <p:nvPr/>
        </p:nvSpPr>
        <p:spPr>
          <a:xfrm>
            <a:off x="914400" y="2377440"/>
            <a:ext cx="10424160" cy="3108960"/>
          </a:xfrm>
          <a:prstGeom prst="rect">
            <a:avLst/>
          </a:prstGeom>
          <a:noFill/>
        </p:spPr>
        <p:txBody>
          <a:bodyPr wrap="square">
            <a:spAutoFit/>
          </a:bodyPr>
          <a:lstStyle/>
          <a:p>
            <a:pPr>
              <a:lnSpc>
                <a:spcPct val="105000"/>
              </a:lnSpc>
              <a:spcAft>
                <a:spcPts val="2000"/>
              </a:spcAft>
            </a:pPr>
            <a:r>
              <a:rPr sz="2000" b="1">
                <a:solidFill>
                  <a:srgbClr val="B8731A"/>
                </a:solidFill>
                <a:latin typeface="맑은 고딕"/>
              </a:rPr>
              <a:t>●  </a:t>
            </a:r>
            <a:r>
              <a:rPr sz="2000">
                <a:solidFill>
                  <a:srgbClr val="2A2118"/>
                </a:solidFill>
                <a:latin typeface="맑은 고딕"/>
              </a:rPr>
              <a:t>통일된 에러 계층(sealed class) — 예외 처리 누락을 컴파일 단계에서 차단</a:t>
            </a:r>
          </a:p>
          <a:p>
            <a:pPr>
              <a:lnSpc>
                <a:spcPct val="105000"/>
              </a:lnSpc>
              <a:spcAft>
                <a:spcPts val="2000"/>
              </a:spcAft>
            </a:pPr>
            <a:r>
              <a:rPr sz="2000" b="1">
                <a:solidFill>
                  <a:srgbClr val="B8731A"/>
                </a:solidFill>
                <a:latin typeface="맑은 고딕"/>
              </a:rPr>
              <a:t>●  </a:t>
            </a:r>
            <a:r>
              <a:rPr sz="2000">
                <a:solidFill>
                  <a:srgbClr val="2A2118"/>
                </a:solidFill>
                <a:latin typeface="맑은 고딕"/>
              </a:rPr>
              <a:t>개인정보 보호 — 기록 삭제 시 AI 원문 데이터까지 같은 트랜잭션에서 정리</a:t>
            </a:r>
          </a:p>
          <a:p>
            <a:pPr>
              <a:lnSpc>
                <a:spcPct val="105000"/>
              </a:lnSpc>
              <a:spcAft>
                <a:spcPts val="2000"/>
              </a:spcAft>
            </a:pPr>
            <a:r>
              <a:rPr sz="2000" b="1">
                <a:solidFill>
                  <a:srgbClr val="B8731A"/>
                </a:solidFill>
                <a:latin typeface="맑은 고딕"/>
              </a:rPr>
              <a:t>●  </a:t>
            </a:r>
            <a:r>
              <a:rPr sz="2000">
                <a:solidFill>
                  <a:srgbClr val="2A2118"/>
                </a:solidFill>
                <a:latin typeface="맑은 고딕"/>
              </a:rPr>
              <a:t>클라우드 백업은 선택적 — 키 없으면 자동 비활성, 앱 본체는 정상 동작</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6EE"/>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B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515600" cy="822960"/>
          </a:xfrm>
          <a:prstGeom prst="rect">
            <a:avLst/>
          </a:prstGeom>
          <a:noFill/>
        </p:spPr>
        <p:txBody>
          <a:bodyPr wrap="square" anchor="t">
            <a:spAutoFit/>
          </a:bodyPr>
          <a:lstStyle/>
          <a:p>
            <a:pPr algn="l">
              <a:lnSpc>
                <a:spcPct val="100000"/>
              </a:lnSpc>
            </a:pPr>
            <a:r>
              <a:rPr sz="3300" b="1" i="0">
                <a:solidFill>
                  <a:srgbClr val="B8731A"/>
                </a:solidFill>
                <a:latin typeface="맑은 고딕"/>
              </a:rPr>
              <a:t>강의 개념의 적용</a:t>
            </a:r>
          </a:p>
        </p:txBody>
      </p:sp>
      <p:sp>
        <p:nvSpPr>
          <p:cNvPr id="4" name="TextBox 3"/>
          <p:cNvSpPr txBox="1"/>
          <p:nvPr/>
        </p:nvSpPr>
        <p:spPr>
          <a:xfrm>
            <a:off x="804672" y="1325880"/>
            <a:ext cx="10789920" cy="548640"/>
          </a:xfrm>
          <a:prstGeom prst="rect">
            <a:avLst/>
          </a:prstGeom>
          <a:noFill/>
        </p:spPr>
        <p:txBody>
          <a:bodyPr wrap="square" anchor="t">
            <a:spAutoFit/>
          </a:bodyPr>
          <a:lstStyle/>
          <a:p>
            <a:pPr algn="l">
              <a:lnSpc>
                <a:spcPct val="100000"/>
              </a:lnSpc>
            </a:pPr>
            <a:r>
              <a:rPr sz="1800" b="0" i="1">
                <a:solidFill>
                  <a:srgbClr val="7A6A57"/>
                </a:solidFill>
                <a:latin typeface="맑은 고딕"/>
              </a:rPr>
              <a:t>수업에서 배운 핵심 주제를 실제로 구현</a:t>
            </a:r>
          </a:p>
        </p:txBody>
      </p:sp>
      <p:sp>
        <p:nvSpPr>
          <p:cNvPr id="5" name="Rectangle 4"/>
          <p:cNvSpPr/>
          <p:nvPr/>
        </p:nvSpPr>
        <p:spPr>
          <a:xfrm>
            <a:off x="822960" y="1847088"/>
            <a:ext cx="3840480" cy="27432"/>
          </a:xfrm>
          <a:prstGeom prst="rect">
            <a:avLst/>
          </a:prstGeom>
          <a:solidFill>
            <a:srgbClr val="E0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6400800"/>
            <a:ext cx="6400800" cy="320040"/>
          </a:xfrm>
          <a:prstGeom prst="rect">
            <a:avLst/>
          </a:prstGeom>
          <a:noFill/>
        </p:spPr>
        <p:txBody>
          <a:bodyPr wrap="square" anchor="t">
            <a:spAutoFit/>
          </a:bodyPr>
          <a:lstStyle/>
          <a:p>
            <a:pPr algn="l">
              <a:lnSpc>
                <a:spcPct val="100000"/>
              </a:lnSpc>
            </a:pPr>
            <a:r>
              <a:rPr sz="1000" b="0" i="0">
                <a:solidFill>
                  <a:srgbClr val="7A6A57"/>
                </a:solidFill>
                <a:latin typeface="맑은 고딕"/>
              </a:rPr>
              <a:t>알비(Albi) · 모바일 앱 프로그래밍</a:t>
            </a:r>
          </a:p>
        </p:txBody>
      </p:sp>
      <p:sp>
        <p:nvSpPr>
          <p:cNvPr id="7" name="TextBox 6"/>
          <p:cNvSpPr txBox="1"/>
          <p:nvPr/>
        </p:nvSpPr>
        <p:spPr>
          <a:xfrm>
            <a:off x="11094415" y="6400800"/>
            <a:ext cx="548640" cy="320040"/>
          </a:xfrm>
          <a:prstGeom prst="rect">
            <a:avLst/>
          </a:prstGeom>
          <a:noFill/>
        </p:spPr>
        <p:txBody>
          <a:bodyPr wrap="square" anchor="t">
            <a:spAutoFit/>
          </a:bodyPr>
          <a:lstStyle/>
          <a:p>
            <a:pPr algn="r">
              <a:lnSpc>
                <a:spcPct val="100000"/>
              </a:lnSpc>
            </a:pPr>
            <a:r>
              <a:rPr sz="1100" b="1" i="0">
                <a:solidFill>
                  <a:srgbClr val="B8731A"/>
                </a:solidFill>
                <a:latin typeface="맑은 고딕"/>
              </a:rPr>
              <a:t>11</a:t>
            </a:r>
          </a:p>
        </p:txBody>
      </p:sp>
      <p:sp>
        <p:nvSpPr>
          <p:cNvPr id="8" name="Rounded Rectangle 7"/>
          <p:cNvSpPr/>
          <p:nvPr/>
        </p:nvSpPr>
        <p:spPr>
          <a:xfrm>
            <a:off x="960120" y="2377440"/>
            <a:ext cx="3017520" cy="566928"/>
          </a:xfrm>
          <a:prstGeom prst="roundRect">
            <a:avLst/>
          </a:prstGeom>
          <a:solidFill>
            <a:srgbClr val="B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3017520" cy="566928"/>
          </a:xfrm>
          <a:prstGeom prst="rect">
            <a:avLst/>
          </a:prstGeom>
          <a:noFill/>
        </p:spPr>
        <p:txBody>
          <a:bodyPr wrap="square" anchor="ctr">
            <a:spAutoFit/>
          </a:bodyPr>
          <a:lstStyle/>
          <a:p>
            <a:pPr algn="ctr">
              <a:lnSpc>
                <a:spcPct val="100000"/>
              </a:lnSpc>
            </a:pPr>
            <a:r>
              <a:rPr sz="1700" b="1" i="0">
                <a:solidFill>
                  <a:srgbClr val="FFFFFF"/>
                </a:solidFill>
                <a:latin typeface="맑은 고딕"/>
              </a:rPr>
              <a:t>상태관리</a:t>
            </a:r>
          </a:p>
        </p:txBody>
      </p:sp>
      <p:sp>
        <p:nvSpPr>
          <p:cNvPr id="10" name="TextBox 9"/>
          <p:cNvSpPr txBox="1"/>
          <p:nvPr/>
        </p:nvSpPr>
        <p:spPr>
          <a:xfrm>
            <a:off x="4069080" y="2377440"/>
            <a:ext cx="457200" cy="566928"/>
          </a:xfrm>
          <a:prstGeom prst="rect">
            <a:avLst/>
          </a:prstGeom>
          <a:noFill/>
        </p:spPr>
        <p:txBody>
          <a:bodyPr wrap="square" anchor="ctr">
            <a:spAutoFit/>
          </a:bodyPr>
          <a:lstStyle/>
          <a:p>
            <a:pPr algn="ctr">
              <a:lnSpc>
                <a:spcPct val="100000"/>
              </a:lnSpc>
            </a:pPr>
            <a:r>
              <a:rPr sz="2000" b="1" i="0">
                <a:solidFill>
                  <a:srgbClr val="E0A857"/>
                </a:solidFill>
                <a:latin typeface="맑은 고딕"/>
              </a:rPr>
              <a:t>→</a:t>
            </a:r>
          </a:p>
        </p:txBody>
      </p:sp>
      <p:sp>
        <p:nvSpPr>
          <p:cNvPr id="11" name="TextBox 10"/>
          <p:cNvSpPr txBox="1"/>
          <p:nvPr/>
        </p:nvSpPr>
        <p:spPr>
          <a:xfrm>
            <a:off x="4663440" y="2377440"/>
            <a:ext cx="6675120" cy="566928"/>
          </a:xfrm>
          <a:prstGeom prst="rect">
            <a:avLst/>
          </a:prstGeom>
          <a:noFill/>
        </p:spPr>
        <p:txBody>
          <a:bodyPr wrap="square" anchor="ctr">
            <a:spAutoFit/>
          </a:bodyPr>
          <a:lstStyle/>
          <a:p>
            <a:pPr algn="l">
              <a:lnSpc>
                <a:spcPct val="100000"/>
              </a:lnSpc>
            </a:pPr>
            <a:r>
              <a:rPr sz="1700" b="0" i="0">
                <a:solidFill>
                  <a:srgbClr val="2A2118"/>
                </a:solidFill>
                <a:latin typeface="맑은 고딕"/>
              </a:rPr>
              <a:t>Riverpod</a:t>
            </a:r>
          </a:p>
        </p:txBody>
      </p:sp>
      <p:sp>
        <p:nvSpPr>
          <p:cNvPr id="12" name="Rounded Rectangle 11"/>
          <p:cNvSpPr/>
          <p:nvPr/>
        </p:nvSpPr>
        <p:spPr>
          <a:xfrm>
            <a:off x="960120" y="3090672"/>
            <a:ext cx="3017520" cy="566928"/>
          </a:xfrm>
          <a:prstGeom prst="roundRect">
            <a:avLst/>
          </a:prstGeom>
          <a:solidFill>
            <a:srgbClr val="B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090672"/>
            <a:ext cx="3017520" cy="566928"/>
          </a:xfrm>
          <a:prstGeom prst="rect">
            <a:avLst/>
          </a:prstGeom>
          <a:noFill/>
        </p:spPr>
        <p:txBody>
          <a:bodyPr wrap="square" anchor="ctr">
            <a:spAutoFit/>
          </a:bodyPr>
          <a:lstStyle/>
          <a:p>
            <a:pPr algn="ctr">
              <a:lnSpc>
                <a:spcPct val="100000"/>
              </a:lnSpc>
            </a:pPr>
            <a:r>
              <a:rPr sz="1700" b="1" i="0">
                <a:solidFill>
                  <a:srgbClr val="FFFFFF"/>
                </a:solidFill>
                <a:latin typeface="맑은 고딕"/>
              </a:rPr>
              <a:t>로컬 DB</a:t>
            </a:r>
          </a:p>
        </p:txBody>
      </p:sp>
      <p:sp>
        <p:nvSpPr>
          <p:cNvPr id="14" name="TextBox 13"/>
          <p:cNvSpPr txBox="1"/>
          <p:nvPr/>
        </p:nvSpPr>
        <p:spPr>
          <a:xfrm>
            <a:off x="4069080" y="3090672"/>
            <a:ext cx="457200" cy="566928"/>
          </a:xfrm>
          <a:prstGeom prst="rect">
            <a:avLst/>
          </a:prstGeom>
          <a:noFill/>
        </p:spPr>
        <p:txBody>
          <a:bodyPr wrap="square" anchor="ctr">
            <a:spAutoFit/>
          </a:bodyPr>
          <a:lstStyle/>
          <a:p>
            <a:pPr algn="ctr">
              <a:lnSpc>
                <a:spcPct val="100000"/>
              </a:lnSpc>
            </a:pPr>
            <a:r>
              <a:rPr sz="2000" b="1" i="0">
                <a:solidFill>
                  <a:srgbClr val="E0A857"/>
                </a:solidFill>
                <a:latin typeface="맑은 고딕"/>
              </a:rPr>
              <a:t>→</a:t>
            </a:r>
          </a:p>
        </p:txBody>
      </p:sp>
      <p:sp>
        <p:nvSpPr>
          <p:cNvPr id="15" name="TextBox 14"/>
          <p:cNvSpPr txBox="1"/>
          <p:nvPr/>
        </p:nvSpPr>
        <p:spPr>
          <a:xfrm>
            <a:off x="4663440" y="3090672"/>
            <a:ext cx="6675120" cy="566928"/>
          </a:xfrm>
          <a:prstGeom prst="rect">
            <a:avLst/>
          </a:prstGeom>
          <a:noFill/>
        </p:spPr>
        <p:txBody>
          <a:bodyPr wrap="square" anchor="ctr">
            <a:spAutoFit/>
          </a:bodyPr>
          <a:lstStyle/>
          <a:p>
            <a:pPr algn="l">
              <a:lnSpc>
                <a:spcPct val="100000"/>
              </a:lnSpc>
            </a:pPr>
            <a:r>
              <a:rPr sz="1700" b="0" i="0">
                <a:solidFill>
                  <a:srgbClr val="2A2118"/>
                </a:solidFill>
                <a:latin typeface="맑은 고딕"/>
              </a:rPr>
              <a:t>sqflite vs Drift ORM 비교 (격리 데모 모듈)</a:t>
            </a:r>
          </a:p>
        </p:txBody>
      </p:sp>
      <p:sp>
        <p:nvSpPr>
          <p:cNvPr id="16" name="Rounded Rectangle 15"/>
          <p:cNvSpPr/>
          <p:nvPr/>
        </p:nvSpPr>
        <p:spPr>
          <a:xfrm>
            <a:off x="960120" y="3803904"/>
            <a:ext cx="3017520" cy="566928"/>
          </a:xfrm>
          <a:prstGeom prst="roundRect">
            <a:avLst/>
          </a:prstGeom>
          <a:solidFill>
            <a:srgbClr val="B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3803904"/>
            <a:ext cx="3017520" cy="566928"/>
          </a:xfrm>
          <a:prstGeom prst="rect">
            <a:avLst/>
          </a:prstGeom>
          <a:noFill/>
        </p:spPr>
        <p:txBody>
          <a:bodyPr wrap="square" anchor="ctr">
            <a:spAutoFit/>
          </a:bodyPr>
          <a:lstStyle/>
          <a:p>
            <a:pPr algn="ctr">
              <a:lnSpc>
                <a:spcPct val="100000"/>
              </a:lnSpc>
            </a:pPr>
            <a:r>
              <a:rPr sz="1700" b="1" i="0">
                <a:solidFill>
                  <a:srgbClr val="FFFFFF"/>
                </a:solidFill>
                <a:latin typeface="맑은 고딕"/>
              </a:rPr>
              <a:t>외부 REST API</a:t>
            </a:r>
          </a:p>
        </p:txBody>
      </p:sp>
      <p:sp>
        <p:nvSpPr>
          <p:cNvPr id="18" name="TextBox 17"/>
          <p:cNvSpPr txBox="1"/>
          <p:nvPr/>
        </p:nvSpPr>
        <p:spPr>
          <a:xfrm>
            <a:off x="4069080" y="3803904"/>
            <a:ext cx="457200" cy="566928"/>
          </a:xfrm>
          <a:prstGeom prst="rect">
            <a:avLst/>
          </a:prstGeom>
          <a:noFill/>
        </p:spPr>
        <p:txBody>
          <a:bodyPr wrap="square" anchor="ctr">
            <a:spAutoFit/>
          </a:bodyPr>
          <a:lstStyle/>
          <a:p>
            <a:pPr algn="ctr">
              <a:lnSpc>
                <a:spcPct val="100000"/>
              </a:lnSpc>
            </a:pPr>
            <a:r>
              <a:rPr sz="2000" b="1" i="0">
                <a:solidFill>
                  <a:srgbClr val="E0A857"/>
                </a:solidFill>
                <a:latin typeface="맑은 고딕"/>
              </a:rPr>
              <a:t>→</a:t>
            </a:r>
          </a:p>
        </p:txBody>
      </p:sp>
      <p:sp>
        <p:nvSpPr>
          <p:cNvPr id="19" name="TextBox 18"/>
          <p:cNvSpPr txBox="1"/>
          <p:nvPr/>
        </p:nvSpPr>
        <p:spPr>
          <a:xfrm>
            <a:off x="4663440" y="3803904"/>
            <a:ext cx="6675120" cy="566928"/>
          </a:xfrm>
          <a:prstGeom prst="rect">
            <a:avLst/>
          </a:prstGeom>
          <a:noFill/>
        </p:spPr>
        <p:txBody>
          <a:bodyPr wrap="square" anchor="ctr">
            <a:spAutoFit/>
          </a:bodyPr>
          <a:lstStyle/>
          <a:p>
            <a:pPr algn="l">
              <a:lnSpc>
                <a:spcPct val="100000"/>
              </a:lnSpc>
            </a:pPr>
            <a:r>
              <a:rPr sz="1700" b="0" i="0">
                <a:solidFill>
                  <a:srgbClr val="2A2118"/>
                </a:solidFill>
                <a:latin typeface="맑은 고딕"/>
              </a:rPr>
              <a:t>Gemini 연동 · 재시도 (Dio)</a:t>
            </a:r>
          </a:p>
        </p:txBody>
      </p:sp>
      <p:sp>
        <p:nvSpPr>
          <p:cNvPr id="20" name="Rounded Rectangle 19"/>
          <p:cNvSpPr/>
          <p:nvPr/>
        </p:nvSpPr>
        <p:spPr>
          <a:xfrm>
            <a:off x="960120" y="4517136"/>
            <a:ext cx="3017520" cy="566928"/>
          </a:xfrm>
          <a:prstGeom prst="roundRect">
            <a:avLst/>
          </a:prstGeom>
          <a:solidFill>
            <a:srgbClr val="B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4517136"/>
            <a:ext cx="3017520" cy="566928"/>
          </a:xfrm>
          <a:prstGeom prst="rect">
            <a:avLst/>
          </a:prstGeom>
          <a:noFill/>
        </p:spPr>
        <p:txBody>
          <a:bodyPr wrap="square" anchor="ctr">
            <a:spAutoFit/>
          </a:bodyPr>
          <a:lstStyle/>
          <a:p>
            <a:pPr algn="ctr">
              <a:lnSpc>
                <a:spcPct val="100000"/>
              </a:lnSpc>
            </a:pPr>
            <a:r>
              <a:rPr sz="1700" b="1" i="0">
                <a:solidFill>
                  <a:srgbClr val="FFFFFF"/>
                </a:solidFill>
                <a:latin typeface="맑은 고딕"/>
              </a:rPr>
              <a:t>권한 · 알림</a:t>
            </a:r>
          </a:p>
        </p:txBody>
      </p:sp>
      <p:sp>
        <p:nvSpPr>
          <p:cNvPr id="22" name="TextBox 21"/>
          <p:cNvSpPr txBox="1"/>
          <p:nvPr/>
        </p:nvSpPr>
        <p:spPr>
          <a:xfrm>
            <a:off x="4069080" y="4517136"/>
            <a:ext cx="457200" cy="566928"/>
          </a:xfrm>
          <a:prstGeom prst="rect">
            <a:avLst/>
          </a:prstGeom>
          <a:noFill/>
        </p:spPr>
        <p:txBody>
          <a:bodyPr wrap="square" anchor="ctr">
            <a:spAutoFit/>
          </a:bodyPr>
          <a:lstStyle/>
          <a:p>
            <a:pPr algn="ctr">
              <a:lnSpc>
                <a:spcPct val="100000"/>
              </a:lnSpc>
            </a:pPr>
            <a:r>
              <a:rPr sz="2000" b="1" i="0">
                <a:solidFill>
                  <a:srgbClr val="E0A857"/>
                </a:solidFill>
                <a:latin typeface="맑은 고딕"/>
              </a:rPr>
              <a:t>→</a:t>
            </a:r>
          </a:p>
        </p:txBody>
      </p:sp>
      <p:sp>
        <p:nvSpPr>
          <p:cNvPr id="23" name="TextBox 22"/>
          <p:cNvSpPr txBox="1"/>
          <p:nvPr/>
        </p:nvSpPr>
        <p:spPr>
          <a:xfrm>
            <a:off x="4663440" y="4517136"/>
            <a:ext cx="6675120" cy="566928"/>
          </a:xfrm>
          <a:prstGeom prst="rect">
            <a:avLst/>
          </a:prstGeom>
          <a:noFill/>
        </p:spPr>
        <p:txBody>
          <a:bodyPr wrap="square" anchor="ctr">
            <a:spAutoFit/>
          </a:bodyPr>
          <a:lstStyle/>
          <a:p>
            <a:pPr algn="l">
              <a:lnSpc>
                <a:spcPct val="100000"/>
              </a:lnSpc>
            </a:pPr>
            <a:r>
              <a:rPr sz="1700" b="0" i="0">
                <a:solidFill>
                  <a:srgbClr val="2A2118"/>
                </a:solidFill>
                <a:latin typeface="맑은 고딕"/>
              </a:rPr>
              <a:t>flutter_local_notifications</a:t>
            </a:r>
          </a:p>
        </p:txBody>
      </p:sp>
      <p:sp>
        <p:nvSpPr>
          <p:cNvPr id="24" name="Rounded Rectangle 23"/>
          <p:cNvSpPr/>
          <p:nvPr/>
        </p:nvSpPr>
        <p:spPr>
          <a:xfrm>
            <a:off x="960120" y="5230368"/>
            <a:ext cx="3017520" cy="566928"/>
          </a:xfrm>
          <a:prstGeom prst="roundRect">
            <a:avLst/>
          </a:prstGeom>
          <a:solidFill>
            <a:srgbClr val="B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 y="5230368"/>
            <a:ext cx="3017520" cy="566928"/>
          </a:xfrm>
          <a:prstGeom prst="rect">
            <a:avLst/>
          </a:prstGeom>
          <a:noFill/>
        </p:spPr>
        <p:txBody>
          <a:bodyPr wrap="square" anchor="ctr">
            <a:spAutoFit/>
          </a:bodyPr>
          <a:lstStyle/>
          <a:p>
            <a:pPr algn="ctr">
              <a:lnSpc>
                <a:spcPct val="100000"/>
              </a:lnSpc>
            </a:pPr>
            <a:r>
              <a:rPr sz="1700" b="1" i="0">
                <a:solidFill>
                  <a:srgbClr val="FFFFFF"/>
                </a:solidFill>
                <a:latin typeface="맑은 고딕"/>
              </a:rPr>
              <a:t>클라우드</a:t>
            </a:r>
          </a:p>
        </p:txBody>
      </p:sp>
      <p:sp>
        <p:nvSpPr>
          <p:cNvPr id="26" name="TextBox 25"/>
          <p:cNvSpPr txBox="1"/>
          <p:nvPr/>
        </p:nvSpPr>
        <p:spPr>
          <a:xfrm>
            <a:off x="4069080" y="5230368"/>
            <a:ext cx="457200" cy="566928"/>
          </a:xfrm>
          <a:prstGeom prst="rect">
            <a:avLst/>
          </a:prstGeom>
          <a:noFill/>
        </p:spPr>
        <p:txBody>
          <a:bodyPr wrap="square" anchor="ctr">
            <a:spAutoFit/>
          </a:bodyPr>
          <a:lstStyle/>
          <a:p>
            <a:pPr algn="ctr">
              <a:lnSpc>
                <a:spcPct val="100000"/>
              </a:lnSpc>
            </a:pPr>
            <a:r>
              <a:rPr sz="2000" b="1" i="0">
                <a:solidFill>
                  <a:srgbClr val="E0A857"/>
                </a:solidFill>
                <a:latin typeface="맑은 고딕"/>
              </a:rPr>
              <a:t>→</a:t>
            </a:r>
          </a:p>
        </p:txBody>
      </p:sp>
      <p:sp>
        <p:nvSpPr>
          <p:cNvPr id="27" name="TextBox 26"/>
          <p:cNvSpPr txBox="1"/>
          <p:nvPr/>
        </p:nvSpPr>
        <p:spPr>
          <a:xfrm>
            <a:off x="4663440" y="5230368"/>
            <a:ext cx="6675120" cy="566928"/>
          </a:xfrm>
          <a:prstGeom prst="rect">
            <a:avLst/>
          </a:prstGeom>
          <a:noFill/>
        </p:spPr>
        <p:txBody>
          <a:bodyPr wrap="square" anchor="ctr">
            <a:spAutoFit/>
          </a:bodyPr>
          <a:lstStyle/>
          <a:p>
            <a:pPr algn="l">
              <a:lnSpc>
                <a:spcPct val="100000"/>
              </a:lnSpc>
            </a:pPr>
            <a:r>
              <a:rPr sz="1700" b="0" i="0">
                <a:solidFill>
                  <a:srgbClr val="2A2118"/>
                </a:solidFill>
                <a:latin typeface="맑은 고딕"/>
              </a:rPr>
              <a:t>Supabase (선택적 백업)</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5110D"/>
        </a:solidFill>
        <a:effectLst/>
      </p:bgPr>
    </p:bg>
    <p:spTree>
      <p:nvGrpSpPr>
        <p:cNvPr id="1" name=""/>
        <p:cNvGrpSpPr/>
        <p:nvPr/>
      </p:nvGrpSpPr>
      <p:grpSpPr/>
      <p:sp>
        <p:nvSpPr>
          <p:cNvPr id="2" name="Rectangle 1"/>
          <p:cNvSpPr/>
          <p:nvPr/>
        </p:nvSpPr>
        <p:spPr>
          <a:xfrm>
            <a:off x="0" y="0"/>
            <a:ext cx="12191695" cy="320040"/>
          </a:xfrm>
          <a:prstGeom prst="rect">
            <a:avLst/>
          </a:prstGeom>
          <a:solidFill>
            <a:srgbClr val="B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nchor="t">
            <a:spAutoFit/>
          </a:bodyPr>
          <a:lstStyle/>
          <a:p>
            <a:pPr algn="l">
              <a:lnSpc>
                <a:spcPct val="100000"/>
              </a:lnSpc>
            </a:pPr>
            <a:r>
              <a:rPr sz="3300" b="1" i="0">
                <a:solidFill>
                  <a:srgbClr val="E0A857"/>
                </a:solidFill>
                <a:latin typeface="맑은 고딕"/>
              </a:rPr>
              <a:t>팀 역할 &amp; 마무리</a:t>
            </a:r>
          </a:p>
        </p:txBody>
      </p:sp>
      <p:sp>
        <p:nvSpPr>
          <p:cNvPr id="4" name="Rounded Rectangle 3"/>
          <p:cNvSpPr/>
          <p:nvPr/>
        </p:nvSpPr>
        <p:spPr>
          <a:xfrm>
            <a:off x="914400" y="1737360"/>
            <a:ext cx="4937760" cy="1737360"/>
          </a:xfrm>
          <a:prstGeom prst="roundRect">
            <a:avLst/>
          </a:prstGeom>
          <a:solidFill>
            <a:srgbClr val="241D15"/>
          </a:solidFill>
          <a:ln w="15240">
            <a:solidFill>
              <a:srgbClr val="B873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1920240"/>
            <a:ext cx="4389120" cy="548640"/>
          </a:xfrm>
          <a:prstGeom prst="rect">
            <a:avLst/>
          </a:prstGeom>
          <a:noFill/>
        </p:spPr>
        <p:txBody>
          <a:bodyPr wrap="square" anchor="t">
            <a:spAutoFit/>
          </a:bodyPr>
          <a:lstStyle/>
          <a:p>
            <a:pPr algn="l">
              <a:lnSpc>
                <a:spcPct val="100000"/>
              </a:lnSpc>
            </a:pPr>
            <a:r>
              <a:rPr sz="2200" b="1" i="0">
                <a:solidFill>
                  <a:srgbClr val="E0A857"/>
                </a:solidFill>
                <a:latin typeface="맑은 고딕"/>
              </a:rPr>
              <a:t>김태겸</a:t>
            </a:r>
          </a:p>
        </p:txBody>
      </p:sp>
      <p:sp>
        <p:nvSpPr>
          <p:cNvPr id="6" name="TextBox 5"/>
          <p:cNvSpPr txBox="1"/>
          <p:nvPr/>
        </p:nvSpPr>
        <p:spPr>
          <a:xfrm>
            <a:off x="1188720" y="2606040"/>
            <a:ext cx="4389120" cy="731520"/>
          </a:xfrm>
          <a:prstGeom prst="rect">
            <a:avLst/>
          </a:prstGeom>
          <a:noFill/>
        </p:spPr>
        <p:txBody>
          <a:bodyPr wrap="square" anchor="t">
            <a:spAutoFit/>
          </a:bodyPr>
          <a:lstStyle/>
          <a:p>
            <a:pPr algn="l">
              <a:lnSpc>
                <a:spcPct val="100000"/>
              </a:lnSpc>
            </a:pPr>
            <a:r>
              <a:rPr sz="1600" b="0" i="0">
                <a:solidFill>
                  <a:srgbClr val="FBF6EE"/>
                </a:solidFill>
                <a:latin typeface="맑은 고딕"/>
              </a:rPr>
              <a:t>자연어 파싱 · 데이터베이스 · AI 연동</a:t>
            </a:r>
          </a:p>
        </p:txBody>
      </p:sp>
      <p:sp>
        <p:nvSpPr>
          <p:cNvPr id="7" name="Rounded Rectangle 6"/>
          <p:cNvSpPr/>
          <p:nvPr/>
        </p:nvSpPr>
        <p:spPr>
          <a:xfrm>
            <a:off x="6309360" y="1737360"/>
            <a:ext cx="4937760" cy="1737360"/>
          </a:xfrm>
          <a:prstGeom prst="roundRect">
            <a:avLst/>
          </a:prstGeom>
          <a:solidFill>
            <a:srgbClr val="241D15"/>
          </a:solidFill>
          <a:ln w="15240">
            <a:solidFill>
              <a:srgbClr val="B873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920240"/>
            <a:ext cx="4389120" cy="548640"/>
          </a:xfrm>
          <a:prstGeom prst="rect">
            <a:avLst/>
          </a:prstGeom>
          <a:noFill/>
        </p:spPr>
        <p:txBody>
          <a:bodyPr wrap="square" anchor="t">
            <a:spAutoFit/>
          </a:bodyPr>
          <a:lstStyle/>
          <a:p>
            <a:pPr algn="l">
              <a:lnSpc>
                <a:spcPct val="100000"/>
              </a:lnSpc>
            </a:pPr>
            <a:r>
              <a:rPr sz="2200" b="1" i="0">
                <a:solidFill>
                  <a:srgbClr val="E0A857"/>
                </a:solidFill>
                <a:latin typeface="맑은 고딕"/>
              </a:rPr>
              <a:t>곽지한</a:t>
            </a:r>
          </a:p>
        </p:txBody>
      </p:sp>
      <p:sp>
        <p:nvSpPr>
          <p:cNvPr id="9" name="TextBox 8"/>
          <p:cNvSpPr txBox="1"/>
          <p:nvPr/>
        </p:nvSpPr>
        <p:spPr>
          <a:xfrm>
            <a:off x="6583680" y="2606040"/>
            <a:ext cx="4389120" cy="731520"/>
          </a:xfrm>
          <a:prstGeom prst="rect">
            <a:avLst/>
          </a:prstGeom>
          <a:noFill/>
        </p:spPr>
        <p:txBody>
          <a:bodyPr wrap="square" anchor="t">
            <a:spAutoFit/>
          </a:bodyPr>
          <a:lstStyle/>
          <a:p>
            <a:pPr algn="l">
              <a:lnSpc>
                <a:spcPct val="100000"/>
              </a:lnSpc>
            </a:pPr>
            <a:r>
              <a:rPr sz="1600" b="0" i="0">
                <a:solidFill>
                  <a:srgbClr val="FBF6EE"/>
                </a:solidFill>
                <a:latin typeface="맑은 고딕"/>
              </a:rPr>
              <a:t>UI · 디자인 · 사용자 경험 (UX)</a:t>
            </a:r>
          </a:p>
        </p:txBody>
      </p:sp>
      <p:sp>
        <p:nvSpPr>
          <p:cNvPr id="10" name="TextBox 9"/>
          <p:cNvSpPr txBox="1"/>
          <p:nvPr/>
        </p:nvSpPr>
        <p:spPr>
          <a:xfrm>
            <a:off x="914400" y="3840480"/>
            <a:ext cx="10332720" cy="640080"/>
          </a:xfrm>
          <a:prstGeom prst="rect">
            <a:avLst/>
          </a:prstGeom>
          <a:noFill/>
        </p:spPr>
        <p:txBody>
          <a:bodyPr wrap="square" anchor="t">
            <a:spAutoFit/>
          </a:bodyPr>
          <a:lstStyle/>
          <a:p>
            <a:pPr algn="ctr">
              <a:lnSpc>
                <a:spcPct val="100000"/>
              </a:lnSpc>
            </a:pPr>
            <a:r>
              <a:rPr sz="1900" b="0" i="1">
                <a:solidFill>
                  <a:srgbClr val="E0A857"/>
                </a:solidFill>
                <a:latin typeface="맑은 고딕"/>
              </a:rPr>
              <a:t>"편리함과 정확함은 '검토 단계' 하나로 양립한다"</a:t>
            </a:r>
          </a:p>
        </p:txBody>
      </p:sp>
      <p:sp>
        <p:nvSpPr>
          <p:cNvPr id="11" name="TextBox 10"/>
          <p:cNvSpPr txBox="1"/>
          <p:nvPr/>
        </p:nvSpPr>
        <p:spPr>
          <a:xfrm>
            <a:off x="914400" y="4572000"/>
            <a:ext cx="10332720" cy="457200"/>
          </a:xfrm>
          <a:prstGeom prst="rect">
            <a:avLst/>
          </a:prstGeom>
          <a:noFill/>
        </p:spPr>
        <p:txBody>
          <a:bodyPr wrap="square" anchor="t">
            <a:spAutoFit/>
          </a:bodyPr>
          <a:lstStyle/>
          <a:p>
            <a:pPr algn="ctr">
              <a:lnSpc>
                <a:spcPct val="100000"/>
              </a:lnSpc>
            </a:pPr>
            <a:r>
              <a:rPr sz="1500" b="0" i="0">
                <a:solidFill>
                  <a:srgbClr val="7A6A57"/>
                </a:solidFill>
                <a:latin typeface="맑은 고딕"/>
              </a:rPr>
              <a:t>향후 계획 — 클라우드 동기화 본격화 · 디자인 리뉴얼</a:t>
            </a:r>
          </a:p>
        </p:txBody>
      </p:sp>
      <p:sp>
        <p:nvSpPr>
          <p:cNvPr id="12" name="TextBox 11"/>
          <p:cNvSpPr txBox="1"/>
          <p:nvPr/>
        </p:nvSpPr>
        <p:spPr>
          <a:xfrm>
            <a:off x="914400" y="5394960"/>
            <a:ext cx="10332720" cy="822960"/>
          </a:xfrm>
          <a:prstGeom prst="rect">
            <a:avLst/>
          </a:prstGeom>
          <a:noFill/>
        </p:spPr>
        <p:txBody>
          <a:bodyPr wrap="square" anchor="t">
            <a:spAutoFit/>
          </a:bodyPr>
          <a:lstStyle/>
          <a:p>
            <a:pPr algn="ctr">
              <a:lnSpc>
                <a:spcPct val="100000"/>
              </a:lnSpc>
            </a:pPr>
            <a:r>
              <a:rPr sz="3000" b="1" i="0">
                <a:solidFill>
                  <a:srgbClr val="E0A857"/>
                </a:solidFill>
                <a:latin typeface="맑은 고딕"/>
              </a:rPr>
              <a:t>감사합니다 — 알비(Albi)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